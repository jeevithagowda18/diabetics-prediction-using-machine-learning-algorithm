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63" r:id="rId2"/>
    <p:sldId id="256" r:id="rId3"/>
    <p:sldId id="257" r:id="rId4"/>
    <p:sldId id="258" r:id="rId5"/>
    <p:sldId id="264" r:id="rId6"/>
    <p:sldId id="260" r:id="rId7"/>
    <p:sldId id="280" r:id="rId8"/>
    <p:sldId id="261" r:id="rId9"/>
    <p:sldId id="259" r:id="rId10"/>
    <p:sldId id="262" r:id="rId11"/>
    <p:sldId id="269" r:id="rId12"/>
    <p:sldId id="277" r:id="rId13"/>
    <p:sldId id="278" r:id="rId14"/>
    <p:sldId id="270" r:id="rId15"/>
  </p:sldIdLst>
  <p:sldSz cx="18288000" cy="10287000"/>
  <p:notesSz cx="6858000" cy="9144000"/>
  <p:embeddedFontLst>
    <p:embeddedFont>
      <p:font typeface="Calibri" pitchFamily="34" charset="0"/>
      <p:regular r:id="rId17"/>
      <p:bold r:id="rId18"/>
      <p:italic r:id="rId19"/>
      <p:boldItalic r:id="rId20"/>
    </p:embeddedFont>
    <p:embeddedFont>
      <p:font typeface="Public Sans Heavy" charset="0"/>
      <p:regular r:id="rId21"/>
    </p:embeddedFont>
    <p:embeddedFont>
      <p:font typeface="Algerian" pitchFamily="82" charset="0"/>
      <p:regular r:id="rId22"/>
    </p:embeddedFont>
    <p:embeddedFont>
      <p:font typeface="Nirmala UI" pitchFamily="34" charset="0"/>
      <p:regular r:id="rId23"/>
      <p:bold r:id="rId24"/>
    </p:embeddedFont>
    <p:embeddedFont>
      <p:font typeface="Public Sans"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65" autoAdjust="0"/>
    <p:restoredTop sz="91921" autoAdjust="0"/>
  </p:normalViewPr>
  <p:slideViewPr>
    <p:cSldViewPr>
      <p:cViewPr>
        <p:scale>
          <a:sx n="51" d="100"/>
          <a:sy n="51" d="100"/>
        </p:scale>
        <p:origin x="-636" y="2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3B33CB-2399-4D0B-A972-AD77328E4A7E}" type="datetimeFigureOut">
              <a:rPr lang="en-IN" smtClean="0"/>
              <a:t>04-12-2024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E4F2B7-BAC3-44C1-B11E-2F0219F280EE}" type="slidenum">
              <a:rPr lang="en-IN" smtClean="0"/>
              <a:t>‹#›</a:t>
            </a:fld>
            <a:endParaRPr lang="en-IN"/>
          </a:p>
        </p:txBody>
      </p:sp>
    </p:spTree>
    <p:extLst>
      <p:ext uri="{BB962C8B-B14F-4D97-AF65-F5344CB8AC3E}">
        <p14:creationId xmlns:p14="http://schemas.microsoft.com/office/powerpoint/2010/main" val="3589854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EE4F2B7-BAC3-44C1-B11E-2F0219F280EE}" type="slidenum">
              <a:rPr lang="en-IN" smtClean="0"/>
              <a:t>1</a:t>
            </a:fld>
            <a:endParaRPr lang="en-IN"/>
          </a:p>
        </p:txBody>
      </p:sp>
    </p:spTree>
    <p:extLst>
      <p:ext uri="{BB962C8B-B14F-4D97-AF65-F5344CB8AC3E}">
        <p14:creationId xmlns:p14="http://schemas.microsoft.com/office/powerpoint/2010/main" val="3971227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6.png"/><Relationship Id="rId5" Type="http://schemas.openxmlformats.org/officeDocument/2006/relationships/image" Target="../media/image2.png"/><Relationship Id="rId10" Type="http://schemas.openxmlformats.org/officeDocument/2006/relationships/image" Target="../media/image5.png"/><Relationship Id="rId4" Type="http://schemas.openxmlformats.org/officeDocument/2006/relationships/image" Target="../media/image2.svg"/><Relationship Id="rId9" Type="http://schemas.openxmlformats.org/officeDocument/2006/relationships/image" Target="../media/image4.png"/><Relationship Id="rId14" Type="http://schemas.openxmlformats.org/officeDocument/2006/relationships/image" Target="../media/image12.svg"/></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12.sv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7.png"/><Relationship Id="rId17" Type="http://schemas.openxmlformats.org/officeDocument/2006/relationships/image" Target="../media/image6.svg"/><Relationship Id="rId2" Type="http://schemas.openxmlformats.org/officeDocument/2006/relationships/image" Target="../media/image8.png"/><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0.svg"/><Relationship Id="rId5" Type="http://schemas.openxmlformats.org/officeDocument/2006/relationships/image" Target="../media/image16.svg"/><Relationship Id="rId15" Type="http://schemas.openxmlformats.org/officeDocument/2006/relationships/image" Target="../media/image4.svg"/><Relationship Id="rId10"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2.svg"/><Relationship Id="rId1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6.svg"/><Relationship Id="rId7" Type="http://schemas.openxmlformats.org/officeDocument/2006/relationships/image" Target="../media/image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0.svg"/><Relationship Id="rId4" Type="http://schemas.openxmlformats.org/officeDocument/2006/relationships/image" Target="../media/image11.png"/><Relationship Id="rId9"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2.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2.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6.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8.svg"/><Relationship Id="rId5" Type="http://schemas.openxmlformats.org/officeDocument/2006/relationships/image" Target="../media/image22.svg"/><Relationship Id="rId10" Type="http://schemas.openxmlformats.org/officeDocument/2006/relationships/image" Target="../media/image10.png"/><Relationship Id="rId4" Type="http://schemas.openxmlformats.org/officeDocument/2006/relationships/image" Target="../media/image12.png"/><Relationship Id="rId9" Type="http://schemas.openxmlformats.org/officeDocument/2006/relationships/image" Target="../media/image6.svg"/></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6.svg"/><Relationship Id="rId7"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6.svg"/><Relationship Id="rId7"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2.svg"/><Relationship Id="rId5" Type="http://schemas.openxmlformats.org/officeDocument/2006/relationships/image" Target="../media/image20.svg"/><Relationship Id="rId10" Type="http://schemas.openxmlformats.org/officeDocument/2006/relationships/image" Target="../media/image7.png"/><Relationship Id="rId4" Type="http://schemas.openxmlformats.org/officeDocument/2006/relationships/image" Target="../media/image11.png"/><Relationship Id="rId9" Type="http://schemas.openxmlformats.org/officeDocument/2006/relationships/image" Target="../media/image6.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6.svg"/><Relationship Id="rId7" Type="http://schemas.openxmlformats.org/officeDocument/2006/relationships/image" Target="../media/image6.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5.svg"/><Relationship Id="rId4" Type="http://schemas.openxmlformats.org/officeDocument/2006/relationships/image" Target="../media/image13.png"/><Relationship Id="rId9" Type="http://schemas.openxmlformats.org/officeDocument/2006/relationships/image" Target="../media/image12.svg"/></Relationships>
</file>

<file path=ppt/slides/_rels/slide1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25.svg"/><Relationship Id="rId18" Type="http://schemas.openxmlformats.org/officeDocument/2006/relationships/image" Target="../media/image2.png"/><Relationship Id="rId3" Type="http://schemas.openxmlformats.org/officeDocument/2006/relationships/image" Target="../media/image16.svg"/><Relationship Id="rId21" Type="http://schemas.openxmlformats.org/officeDocument/2006/relationships/image" Target="../media/image6.svg"/><Relationship Id="rId7" Type="http://schemas.openxmlformats.org/officeDocument/2006/relationships/image" Target="../media/image18.svg"/><Relationship Id="rId12" Type="http://schemas.openxmlformats.org/officeDocument/2006/relationships/image" Target="../media/image13.png"/><Relationship Id="rId17" Type="http://schemas.openxmlformats.org/officeDocument/2006/relationships/image" Target="../media/image12.svg"/><Relationship Id="rId2" Type="http://schemas.openxmlformats.org/officeDocument/2006/relationships/image" Target="../media/image9.png"/><Relationship Id="rId16" Type="http://schemas.openxmlformats.org/officeDocument/2006/relationships/image" Target="../media/image7.png"/><Relationship Id="rId20"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22.svg"/><Relationship Id="rId5" Type="http://schemas.openxmlformats.org/officeDocument/2006/relationships/image" Target="../media/image14.svg"/><Relationship Id="rId15" Type="http://schemas.openxmlformats.org/officeDocument/2006/relationships/image" Target="../media/image10.svg"/><Relationship Id="rId10" Type="http://schemas.openxmlformats.org/officeDocument/2006/relationships/image" Target="../media/image12.png"/><Relationship Id="rId19" Type="http://schemas.openxmlformats.org/officeDocument/2006/relationships/image" Target="../media/image4.svg"/><Relationship Id="rId4" Type="http://schemas.openxmlformats.org/officeDocument/2006/relationships/image" Target="../media/image8.png"/><Relationship Id="rId9" Type="http://schemas.openxmlformats.org/officeDocument/2006/relationships/image" Target="../media/image2.svg"/><Relationship Id="rId1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18" name="Freeform 9"/>
          <p:cNvSpPr/>
          <p:nvPr/>
        </p:nvSpPr>
        <p:spPr>
          <a:xfrm>
            <a:off x="-1371809" y="6735942"/>
            <a:ext cx="5018594" cy="5403600"/>
          </a:xfrm>
          <a:custGeom>
            <a:avLst/>
            <a:gdLst/>
            <a:ahLst/>
            <a:cxnLst/>
            <a:rect l="l" t="t" r="r" b="b"/>
            <a:pathLst>
              <a:path w="5018594" h="5403600">
                <a:moveTo>
                  <a:pt x="0" y="0"/>
                </a:moveTo>
                <a:lnTo>
                  <a:pt x="5018594" y="0"/>
                </a:lnTo>
                <a:lnTo>
                  <a:pt x="5018594" y="5403600"/>
                </a:lnTo>
                <a:lnTo>
                  <a:pt x="0" y="54036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9" name="Freeform 14"/>
          <p:cNvSpPr/>
          <p:nvPr/>
        </p:nvSpPr>
        <p:spPr>
          <a:xfrm>
            <a:off x="16162921" y="6404542"/>
            <a:ext cx="3123355" cy="5205592"/>
          </a:xfrm>
          <a:custGeom>
            <a:avLst/>
            <a:gdLst/>
            <a:ahLst/>
            <a:cxnLst/>
            <a:rect l="l" t="t" r="r" b="b"/>
            <a:pathLst>
              <a:path w="3123355" h="5205592">
                <a:moveTo>
                  <a:pt x="0" y="0"/>
                </a:moveTo>
                <a:lnTo>
                  <a:pt x="3123356" y="0"/>
                </a:lnTo>
                <a:lnTo>
                  <a:pt x="3123356" y="5205592"/>
                </a:lnTo>
                <a:lnTo>
                  <a:pt x="0" y="5205592"/>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20" name="Freeform 16"/>
          <p:cNvSpPr/>
          <p:nvPr/>
        </p:nvSpPr>
        <p:spPr>
          <a:xfrm rot="-5500207" flipH="1">
            <a:off x="31169341" y="10551143"/>
            <a:ext cx="738656" cy="794469"/>
          </a:xfrm>
          <a:custGeom>
            <a:avLst/>
            <a:gdLst/>
            <a:ahLst/>
            <a:cxnLst/>
            <a:rect l="l" t="t" r="r" b="b"/>
            <a:pathLst>
              <a:path w="1402006" h="1402006">
                <a:moveTo>
                  <a:pt x="1402007" y="0"/>
                </a:moveTo>
                <a:lnTo>
                  <a:pt x="0" y="0"/>
                </a:lnTo>
                <a:lnTo>
                  <a:pt x="0" y="1402006"/>
                </a:lnTo>
                <a:lnTo>
                  <a:pt x="1402007" y="1402006"/>
                </a:lnTo>
                <a:lnTo>
                  <a:pt x="1402007" y="0"/>
                </a:lnTo>
                <a:close/>
              </a:path>
            </a:pathLst>
          </a:custGeom>
          <a:blipFill>
            <a:blip r:embed="rId7">
              <a:extLst>
                <a:ext uri="{96DAC541-7B7A-43D3-8B79-37D633B846F1}">
                  <asvg:svgBlip xmlns="" xmlns:asvg="http://schemas.microsoft.com/office/drawing/2016/SVG/main" r:embed="rId8"/>
                </a:ext>
              </a:extLst>
            </a:blip>
            <a:stretch>
              <a:fillRect/>
            </a:stretch>
          </a:blipFill>
        </p:spPr>
      </p:sp>
      <p:pic>
        <p:nvPicPr>
          <p:cNvPr id="21" name="Google Shape;89;p1"/>
          <p:cNvPicPr preferRelativeResize="0"/>
          <p:nvPr/>
        </p:nvPicPr>
        <p:blipFill rotWithShape="1">
          <a:blip r:embed="rId9">
            <a:alphaModFix/>
          </a:blip>
          <a:srcRect/>
          <a:stretch/>
        </p:blipFill>
        <p:spPr>
          <a:xfrm>
            <a:off x="32699" y="-307962"/>
            <a:ext cx="2438400" cy="2819400"/>
          </a:xfrm>
          <a:prstGeom prst="rect">
            <a:avLst/>
          </a:prstGeom>
          <a:noFill/>
          <a:ln>
            <a:noFill/>
          </a:ln>
        </p:spPr>
      </p:pic>
      <p:pic>
        <p:nvPicPr>
          <p:cNvPr id="22" name="Picture 2" descr="https://lh7-rt.googleusercontent.com/slidesz/AGV_vUePvdZA8_IXlZtflrT8OdSDJ2d2jbnE7rd0lz3bCwd6N2bKrBQ_tXnuxEAtRHYy2TyLbfqOJhDiHphMzR7PUrOn4wWa4Y_5Yk499O3J7ZkKh7KhrmitVofVBvmKfEy_gGXpFRZ-p3CDkwJxV1Xh67k=s2048?key=8teggQ-LQdBjgVh7fhld7gCV"/>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162921" y="190500"/>
            <a:ext cx="2125079" cy="2090404"/>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p:cNvSpPr/>
          <p:nvPr/>
        </p:nvSpPr>
        <p:spPr>
          <a:xfrm>
            <a:off x="2209800" y="312372"/>
            <a:ext cx="14579422" cy="1015663"/>
          </a:xfrm>
          <a:prstGeom prst="rect">
            <a:avLst/>
          </a:prstGeom>
        </p:spPr>
        <p:txBody>
          <a:bodyPr wrap="square">
            <a:spAutoFit/>
          </a:bodyPr>
          <a:lstStyle/>
          <a:p>
            <a:r>
              <a:rPr lang="en-US" sz="5800" b="1" u="sng" dirty="0">
                <a:solidFill>
                  <a:schemeClr val="dk1"/>
                </a:solidFill>
                <a:latin typeface="Times New Roman"/>
                <a:ea typeface="Times New Roman"/>
                <a:cs typeface="Times New Roman"/>
                <a:sym typeface="Times New Roman"/>
              </a:rPr>
              <a:t>RAJEEV INSTITUTE OF TECHNOLOGY</a:t>
            </a:r>
            <a:endParaRPr lang="en-IN" sz="5800" dirty="0"/>
          </a:p>
        </p:txBody>
      </p:sp>
      <p:sp>
        <p:nvSpPr>
          <p:cNvPr id="24" name="Rectangle 23"/>
          <p:cNvSpPr/>
          <p:nvPr/>
        </p:nvSpPr>
        <p:spPr>
          <a:xfrm>
            <a:off x="2488684" y="1865107"/>
            <a:ext cx="13283252" cy="646331"/>
          </a:xfrm>
          <a:prstGeom prst="rect">
            <a:avLst/>
          </a:prstGeom>
        </p:spPr>
        <p:txBody>
          <a:bodyPr wrap="none">
            <a:spAutoFit/>
          </a:bodyPr>
          <a:lstStyle/>
          <a:p>
            <a:pPr lvl="0"/>
            <a:r>
              <a:rPr lang="en-US" sz="3600" b="1" u="sng" dirty="0">
                <a:solidFill>
                  <a:schemeClr val="dk1"/>
                </a:solidFill>
                <a:latin typeface="Times New Roman"/>
                <a:ea typeface="Times New Roman"/>
                <a:cs typeface="Times New Roman"/>
                <a:sym typeface="Times New Roman"/>
              </a:rPr>
              <a:t>DEPARTMENT OF INFORMATION SCIENCE ENGINEERING</a:t>
            </a:r>
            <a:endParaRPr lang="en-US" sz="3600" dirty="0"/>
          </a:p>
        </p:txBody>
      </p:sp>
      <p:sp>
        <p:nvSpPr>
          <p:cNvPr id="25" name="Rectangle 24"/>
          <p:cNvSpPr/>
          <p:nvPr/>
        </p:nvSpPr>
        <p:spPr>
          <a:xfrm>
            <a:off x="1152264" y="3245773"/>
            <a:ext cx="16694494" cy="1138773"/>
          </a:xfrm>
          <a:prstGeom prst="rect">
            <a:avLst/>
          </a:prstGeom>
        </p:spPr>
        <p:txBody>
          <a:bodyPr wrap="square">
            <a:spAutoFit/>
          </a:bodyPr>
          <a:lstStyle/>
          <a:p>
            <a:pPr lvl="0"/>
            <a:r>
              <a:rPr lang="en-US" sz="3200" dirty="0">
                <a:solidFill>
                  <a:schemeClr val="dk1"/>
                </a:solidFill>
                <a:latin typeface="Times New Roman"/>
                <a:ea typeface="Times New Roman"/>
                <a:cs typeface="Times New Roman"/>
                <a:sym typeface="Times New Roman"/>
              </a:rPr>
              <a:t>                                              </a:t>
            </a:r>
            <a:r>
              <a:rPr lang="en-US" sz="3200" dirty="0" smtClean="0">
                <a:solidFill>
                  <a:schemeClr val="dk1"/>
                </a:solidFill>
                <a:latin typeface="Times New Roman"/>
                <a:ea typeface="Times New Roman"/>
                <a:cs typeface="Times New Roman"/>
                <a:sym typeface="Times New Roman"/>
              </a:rPr>
              <a:t>                      </a:t>
            </a:r>
            <a:r>
              <a:rPr lang="en-US" sz="3200" dirty="0">
                <a:solidFill>
                  <a:schemeClr val="dk1"/>
                </a:solidFill>
                <a:latin typeface="Times New Roman"/>
                <a:ea typeface="Times New Roman"/>
                <a:cs typeface="Times New Roman"/>
                <a:sym typeface="Times New Roman"/>
              </a:rPr>
              <a:t>Project On:</a:t>
            </a:r>
          </a:p>
          <a:p>
            <a:pPr lvl="0"/>
            <a:r>
              <a:rPr lang="en-US" sz="3600" b="1" dirty="0">
                <a:solidFill>
                  <a:schemeClr val="dk1"/>
                </a:solidFill>
                <a:latin typeface="Times New Roman"/>
                <a:ea typeface="Times New Roman"/>
                <a:cs typeface="Times New Roman"/>
                <a:sym typeface="Times New Roman"/>
              </a:rPr>
              <a:t>    </a:t>
            </a:r>
            <a:r>
              <a:rPr lang="en-US" sz="3600" b="1"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a:t>
            </a:r>
            <a:r>
              <a:rPr lang="en-US" sz="3600" b="1" dirty="0">
                <a:latin typeface="Times New Roman" panose="02020603050405020304" pitchFamily="18" charset="0"/>
                <a:cs typeface="Times New Roman" panose="02020603050405020304" pitchFamily="18" charset="0"/>
              </a:rPr>
              <a:t>DIABETES PREDICTION USING MACHINE </a:t>
            </a:r>
            <a:r>
              <a:rPr lang="en-US" sz="3600" b="1" dirty="0" smtClean="0">
                <a:latin typeface="Times New Roman" panose="02020603050405020304" pitchFamily="18" charset="0"/>
                <a:cs typeface="Times New Roman" panose="02020603050405020304" pitchFamily="18" charset="0"/>
              </a:rPr>
              <a:t>LEARNING ALGORITHMS</a:t>
            </a:r>
            <a:r>
              <a:rPr lang="en-US" sz="3600" b="1"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a:t>
            </a:r>
            <a:endParaRPr lang="en-US" sz="3600" dirty="0">
              <a:latin typeface="Times New Roman" panose="02020603050405020304" pitchFamily="18" charset="0"/>
              <a:cs typeface="Times New Roman" panose="02020603050405020304" pitchFamily="18" charset="0"/>
            </a:endParaRPr>
          </a:p>
        </p:txBody>
      </p:sp>
      <p:sp>
        <p:nvSpPr>
          <p:cNvPr id="26" name="Rectangle 25"/>
          <p:cNvSpPr/>
          <p:nvPr/>
        </p:nvSpPr>
        <p:spPr>
          <a:xfrm>
            <a:off x="1733053" y="6027122"/>
            <a:ext cx="9144000" cy="2616101"/>
          </a:xfrm>
          <a:prstGeom prst="rect">
            <a:avLst/>
          </a:prstGeom>
        </p:spPr>
        <p:txBody>
          <a:bodyPr>
            <a:spAutoFit/>
          </a:bodyPr>
          <a:lstStyle/>
          <a:p>
            <a:pPr lvl="0" algn="just"/>
            <a:r>
              <a:rPr lang="en-US" sz="3400" b="1" dirty="0">
                <a:solidFill>
                  <a:schemeClr val="dk1"/>
                </a:solidFill>
                <a:latin typeface="Times New Roman" panose="02020603050405020304" pitchFamily="18" charset="0"/>
                <a:ea typeface="Times New Roman"/>
                <a:cs typeface="Times New Roman" panose="02020603050405020304" pitchFamily="18" charset="0"/>
                <a:sym typeface="Times New Roman"/>
              </a:rPr>
              <a:t>Under The Guidance of:                              </a:t>
            </a:r>
            <a:endParaRPr lang="en-US" sz="3400" b="1" dirty="0">
              <a:latin typeface="Times New Roman" panose="02020603050405020304" pitchFamily="18" charset="0"/>
              <a:cs typeface="Times New Roman" panose="02020603050405020304" pitchFamily="18" charset="0"/>
              <a:sym typeface="Times New Roman"/>
            </a:endParaRPr>
          </a:p>
          <a:p>
            <a:pPr lvl="0" algn="just"/>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Ms. Sindhu Jain A M </a:t>
            </a:r>
          </a:p>
          <a:p>
            <a:pPr lvl="0" algn="just"/>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Assistant Professor,</a:t>
            </a:r>
            <a:endParaRPr lang="en-US" sz="3200" dirty="0">
              <a:latin typeface="Times New Roman" panose="02020603050405020304" pitchFamily="18" charset="0"/>
              <a:cs typeface="Times New Roman" panose="02020603050405020304" pitchFamily="18" charset="0"/>
            </a:endParaRPr>
          </a:p>
          <a:p>
            <a:pPr lvl="0" algn="just"/>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Department of ISE,</a:t>
            </a:r>
          </a:p>
          <a:p>
            <a:pPr lvl="0" algn="just"/>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RIT, Hassan.</a:t>
            </a:r>
            <a:endParaRPr lang="en-US" sz="3200" dirty="0">
              <a:latin typeface="Times New Roman" panose="02020603050405020304" pitchFamily="18" charset="0"/>
              <a:cs typeface="Times New Roman" panose="02020603050405020304" pitchFamily="18" charset="0"/>
            </a:endParaRPr>
          </a:p>
        </p:txBody>
      </p:sp>
      <p:sp>
        <p:nvSpPr>
          <p:cNvPr id="27" name="Rectangle 26"/>
          <p:cNvSpPr/>
          <p:nvPr/>
        </p:nvSpPr>
        <p:spPr>
          <a:xfrm>
            <a:off x="9982200" y="6027122"/>
            <a:ext cx="9144000" cy="2585323"/>
          </a:xfrm>
          <a:prstGeom prst="rect">
            <a:avLst/>
          </a:prstGeom>
        </p:spPr>
        <p:txBody>
          <a:bodyPr>
            <a:spAutoFit/>
          </a:bodyPr>
          <a:lstStyle/>
          <a:p>
            <a:pPr lvl="0"/>
            <a:r>
              <a:rPr lang="en-US" sz="3400" b="1" dirty="0">
                <a:solidFill>
                  <a:schemeClr val="dk1"/>
                </a:solidFill>
                <a:latin typeface="Times New Roman" panose="02020603050405020304" pitchFamily="18" charset="0"/>
                <a:ea typeface="Times New Roman"/>
                <a:cs typeface="Times New Roman" panose="02020603050405020304" pitchFamily="18" charset="0"/>
                <a:sym typeface="Times New Roman"/>
              </a:rPr>
              <a:t>Presented By:</a:t>
            </a:r>
            <a:endParaRPr lang="en-US" sz="3400" b="1" dirty="0">
              <a:latin typeface="Times New Roman" panose="02020603050405020304" pitchFamily="18" charset="0"/>
              <a:cs typeface="Times New Roman" panose="02020603050405020304" pitchFamily="18" charset="0"/>
            </a:endParaRPr>
          </a:p>
          <a:p>
            <a:pPr lvl="0"/>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Abdul </a:t>
            </a:r>
            <a:r>
              <a:rPr lang="en-US" sz="3200" dirty="0" err="1">
                <a:solidFill>
                  <a:schemeClr val="dk1"/>
                </a:solidFill>
                <a:latin typeface="Times New Roman" panose="02020603050405020304" pitchFamily="18" charset="0"/>
                <a:ea typeface="Times New Roman"/>
                <a:cs typeface="Times New Roman" panose="02020603050405020304" pitchFamily="18" charset="0"/>
                <a:sym typeface="Times New Roman"/>
              </a:rPr>
              <a:t>Faraz</a:t>
            </a:r>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               [4RA21IS001]</a:t>
            </a:r>
            <a:endParaRPr lang="en-US" sz="3200" dirty="0">
              <a:latin typeface="Times New Roman" panose="02020603050405020304" pitchFamily="18" charset="0"/>
              <a:cs typeface="Times New Roman" panose="02020603050405020304" pitchFamily="18" charset="0"/>
            </a:endParaRPr>
          </a:p>
          <a:p>
            <a:pPr lvl="0"/>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 Abhishek K                [4RA21IS002]</a:t>
            </a:r>
            <a:endParaRPr lang="en-US" sz="3200" dirty="0">
              <a:latin typeface="Times New Roman" panose="02020603050405020304" pitchFamily="18" charset="0"/>
              <a:cs typeface="Times New Roman" panose="02020603050405020304" pitchFamily="18" charset="0"/>
            </a:endParaRPr>
          </a:p>
          <a:p>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3200" dirty="0" err="1">
                <a:solidFill>
                  <a:schemeClr val="dk1"/>
                </a:solidFill>
                <a:latin typeface="Times New Roman" panose="02020603050405020304" pitchFamily="18" charset="0"/>
                <a:ea typeface="Times New Roman"/>
                <a:cs typeface="Times New Roman" panose="02020603050405020304" pitchFamily="18" charset="0"/>
                <a:sym typeface="Times New Roman"/>
              </a:rPr>
              <a:t>Jeevitha</a:t>
            </a:r>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                      [4RA21IS020]</a:t>
            </a:r>
          </a:p>
          <a:p>
            <a:pPr lvl="0"/>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3200" dirty="0" err="1">
                <a:solidFill>
                  <a:schemeClr val="dk1"/>
                </a:solidFill>
                <a:latin typeface="Times New Roman" panose="02020603050405020304" pitchFamily="18" charset="0"/>
                <a:ea typeface="Times New Roman"/>
                <a:cs typeface="Times New Roman" panose="02020603050405020304" pitchFamily="18" charset="0"/>
                <a:sym typeface="Times New Roman"/>
              </a:rPr>
              <a:t>Keerthana</a:t>
            </a:r>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 D Y           [4RA21IS022]</a:t>
            </a:r>
            <a:endParaRPr lang="en-US" sz="3200" dirty="0">
              <a:latin typeface="Times New Roman" panose="02020603050405020304" pitchFamily="18" charset="0"/>
              <a:cs typeface="Times New Roman" panose="02020603050405020304" pitchFamily="18" charset="0"/>
            </a:endParaRPr>
          </a:p>
        </p:txBody>
      </p:sp>
      <p:sp>
        <p:nvSpPr>
          <p:cNvPr id="28" name="Freeform 12"/>
          <p:cNvSpPr/>
          <p:nvPr/>
        </p:nvSpPr>
        <p:spPr>
          <a:xfrm rot="20681819">
            <a:off x="-772930" y="2869195"/>
            <a:ext cx="2953480" cy="2896780"/>
          </a:xfrm>
          <a:custGeom>
            <a:avLst/>
            <a:gdLst/>
            <a:ahLst/>
            <a:cxnLst/>
            <a:rect l="l" t="t" r="r" b="b"/>
            <a:pathLst>
              <a:path w="3549762" h="3440042">
                <a:moveTo>
                  <a:pt x="0" y="0"/>
                </a:moveTo>
                <a:lnTo>
                  <a:pt x="3549762" y="0"/>
                </a:lnTo>
                <a:lnTo>
                  <a:pt x="3549762" y="3440042"/>
                </a:lnTo>
                <a:lnTo>
                  <a:pt x="0" y="3440042"/>
                </a:lnTo>
                <a:lnTo>
                  <a:pt x="0" y="0"/>
                </a:lnTo>
                <a:close/>
              </a:path>
            </a:pathLst>
          </a:custGeom>
          <a:blipFill>
            <a:blip r:embed="rId11">
              <a:extLst>
                <a:ext uri="{96DAC541-7B7A-43D3-8B79-37D633B846F1}">
                  <asvg:svgBlip xmlns="" xmlns:asvg="http://schemas.microsoft.com/office/drawing/2016/SVG/main" r:embed="rId12"/>
                </a:ext>
              </a:extLst>
            </a:blip>
            <a:stretch>
              <a:fillRect/>
            </a:stretch>
          </a:blipFill>
        </p:spPr>
      </p:sp>
      <p:sp>
        <p:nvSpPr>
          <p:cNvPr id="29" name="Freeform 15"/>
          <p:cNvSpPr/>
          <p:nvPr/>
        </p:nvSpPr>
        <p:spPr>
          <a:xfrm rot="-5500207">
            <a:off x="16726706" y="4304409"/>
            <a:ext cx="1581439" cy="153968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4" name="Freeform 13"/>
          <p:cNvSpPr/>
          <p:nvPr/>
        </p:nvSpPr>
        <p:spPr>
          <a:xfrm rot="-1248570">
            <a:off x="7540151" y="7076268"/>
            <a:ext cx="2885297" cy="4111175"/>
          </a:xfrm>
          <a:custGeom>
            <a:avLst/>
            <a:gdLst/>
            <a:ahLst/>
            <a:cxnLst/>
            <a:rect l="l" t="t" r="r" b="b"/>
            <a:pathLst>
              <a:path w="2885297" h="4111175">
                <a:moveTo>
                  <a:pt x="0" y="0"/>
                </a:moveTo>
                <a:lnTo>
                  <a:pt x="2885297" y="0"/>
                </a:lnTo>
                <a:lnTo>
                  <a:pt x="2885297" y="4111175"/>
                </a:lnTo>
                <a:lnTo>
                  <a:pt x="0" y="4111175"/>
                </a:lnTo>
                <a:lnTo>
                  <a:pt x="0" y="0"/>
                </a:lnTo>
                <a:close/>
              </a:path>
            </a:pathLst>
          </a:custGeom>
          <a:blipFill>
            <a:blip r:embed="rId13">
              <a:extLst>
                <a:ext uri="{96DAC541-7B7A-43D3-8B79-37D633B846F1}">
                  <asvg:svgBlip xmlns="" xmlns:asvg="http://schemas.microsoft.com/office/drawing/2016/SVG/main" r:embed="rId14"/>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3" name="Freeform 3"/>
          <p:cNvSpPr/>
          <p:nvPr/>
        </p:nvSpPr>
        <p:spPr>
          <a:xfrm rot="-1793077">
            <a:off x="45010" y="3051480"/>
            <a:ext cx="1769402" cy="2463725"/>
          </a:xfrm>
          <a:custGeom>
            <a:avLst/>
            <a:gdLst/>
            <a:ahLst/>
            <a:cxnLst/>
            <a:rect l="l" t="t" r="r" b="b"/>
            <a:pathLst>
              <a:path w="1769402" h="2463725">
                <a:moveTo>
                  <a:pt x="0" y="0"/>
                </a:moveTo>
                <a:lnTo>
                  <a:pt x="1769402" y="0"/>
                </a:lnTo>
                <a:lnTo>
                  <a:pt x="1769402" y="2463724"/>
                </a:lnTo>
                <a:lnTo>
                  <a:pt x="0" y="246372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 name="Freeform 4"/>
          <p:cNvSpPr/>
          <p:nvPr/>
        </p:nvSpPr>
        <p:spPr>
          <a:xfrm>
            <a:off x="11942242" y="249336"/>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Freeform 5"/>
          <p:cNvSpPr/>
          <p:nvPr/>
        </p:nvSpPr>
        <p:spPr>
          <a:xfrm rot="855077">
            <a:off x="16357852" y="-333843"/>
            <a:ext cx="2066999" cy="2383332"/>
          </a:xfrm>
          <a:custGeom>
            <a:avLst/>
            <a:gdLst/>
            <a:ahLst/>
            <a:cxnLst/>
            <a:rect l="l" t="t" r="r" b="b"/>
            <a:pathLst>
              <a:path w="2066999" h="2383332">
                <a:moveTo>
                  <a:pt x="0" y="0"/>
                </a:moveTo>
                <a:lnTo>
                  <a:pt x="2066999" y="0"/>
                </a:lnTo>
                <a:lnTo>
                  <a:pt x="2066999" y="2383332"/>
                </a:lnTo>
                <a:lnTo>
                  <a:pt x="0" y="2383332"/>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9" name="Freeform 9"/>
          <p:cNvSpPr/>
          <p:nvPr/>
        </p:nvSpPr>
        <p:spPr>
          <a:xfrm>
            <a:off x="13850982" y="5926237"/>
            <a:ext cx="5018594" cy="5403600"/>
          </a:xfrm>
          <a:custGeom>
            <a:avLst/>
            <a:gdLst/>
            <a:ahLst/>
            <a:cxnLst/>
            <a:rect l="l" t="t" r="r" b="b"/>
            <a:pathLst>
              <a:path w="5018594" h="5403600">
                <a:moveTo>
                  <a:pt x="0" y="0"/>
                </a:moveTo>
                <a:lnTo>
                  <a:pt x="5018594" y="0"/>
                </a:lnTo>
                <a:lnTo>
                  <a:pt x="5018594" y="5403600"/>
                </a:lnTo>
                <a:lnTo>
                  <a:pt x="0" y="5403600"/>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2" name="Freeform 12"/>
          <p:cNvSpPr/>
          <p:nvPr/>
        </p:nvSpPr>
        <p:spPr>
          <a:xfrm rot="-1257881">
            <a:off x="-635238" y="5605960"/>
            <a:ext cx="3549762" cy="3440042"/>
          </a:xfrm>
          <a:custGeom>
            <a:avLst/>
            <a:gdLst/>
            <a:ahLst/>
            <a:cxnLst/>
            <a:rect l="l" t="t" r="r" b="b"/>
            <a:pathLst>
              <a:path w="3549762" h="3440042">
                <a:moveTo>
                  <a:pt x="0" y="0"/>
                </a:moveTo>
                <a:lnTo>
                  <a:pt x="3549762" y="0"/>
                </a:lnTo>
                <a:lnTo>
                  <a:pt x="3549762" y="3440042"/>
                </a:lnTo>
                <a:lnTo>
                  <a:pt x="0" y="3440042"/>
                </a:lnTo>
                <a:lnTo>
                  <a:pt x="0" y="0"/>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13" name="Freeform 13"/>
          <p:cNvSpPr/>
          <p:nvPr/>
        </p:nvSpPr>
        <p:spPr>
          <a:xfrm rot="-1248570">
            <a:off x="15739497" y="2628194"/>
            <a:ext cx="2885297" cy="4111175"/>
          </a:xfrm>
          <a:custGeom>
            <a:avLst/>
            <a:gdLst/>
            <a:ahLst/>
            <a:cxnLst/>
            <a:rect l="l" t="t" r="r" b="b"/>
            <a:pathLst>
              <a:path w="2885297" h="4111175">
                <a:moveTo>
                  <a:pt x="0" y="0"/>
                </a:moveTo>
                <a:lnTo>
                  <a:pt x="2885297" y="0"/>
                </a:lnTo>
                <a:lnTo>
                  <a:pt x="2885297" y="4111175"/>
                </a:lnTo>
                <a:lnTo>
                  <a:pt x="0" y="4111175"/>
                </a:lnTo>
                <a:lnTo>
                  <a:pt x="0" y="0"/>
                </a:lnTo>
                <a:close/>
              </a:path>
            </a:pathLst>
          </a:custGeom>
          <a:blipFill>
            <a:blip r:embed="rId12">
              <a:extLst>
                <a:ext uri="{96DAC541-7B7A-43D3-8B79-37D633B846F1}">
                  <asvg:svgBlip xmlns="" xmlns:asvg="http://schemas.microsoft.com/office/drawing/2016/SVG/main" r:embed="rId13"/>
                </a:ext>
              </a:extLst>
            </a:blip>
            <a:stretch>
              <a:fillRect/>
            </a:stretch>
          </a:blipFill>
        </p:spPr>
      </p:sp>
      <p:sp>
        <p:nvSpPr>
          <p:cNvPr id="14" name="Freeform 14"/>
          <p:cNvSpPr/>
          <p:nvPr/>
        </p:nvSpPr>
        <p:spPr>
          <a:xfrm>
            <a:off x="16780233" y="6294647"/>
            <a:ext cx="3123355" cy="5205592"/>
          </a:xfrm>
          <a:custGeom>
            <a:avLst/>
            <a:gdLst/>
            <a:ahLst/>
            <a:cxnLst/>
            <a:rect l="l" t="t" r="r" b="b"/>
            <a:pathLst>
              <a:path w="3123355" h="5205592">
                <a:moveTo>
                  <a:pt x="0" y="0"/>
                </a:moveTo>
                <a:lnTo>
                  <a:pt x="3123356" y="0"/>
                </a:lnTo>
                <a:lnTo>
                  <a:pt x="3123356" y="5205592"/>
                </a:lnTo>
                <a:lnTo>
                  <a:pt x="0" y="5205592"/>
                </a:lnTo>
                <a:lnTo>
                  <a:pt x="0" y="0"/>
                </a:lnTo>
                <a:close/>
              </a:path>
            </a:pathLst>
          </a:custGeom>
          <a:blipFill>
            <a:blip r:embed="rId14">
              <a:extLst>
                <a:ext uri="{96DAC541-7B7A-43D3-8B79-37D633B846F1}">
                  <asvg:svgBlip xmlns="" xmlns:asvg="http://schemas.microsoft.com/office/drawing/2016/SVG/main" r:embed="rId15"/>
                </a:ext>
              </a:extLst>
            </a:blip>
            <a:stretch>
              <a:fillRect/>
            </a:stretch>
          </a:blipFill>
        </p:spPr>
      </p:sp>
      <p:sp>
        <p:nvSpPr>
          <p:cNvPr id="15" name="Freeform 15"/>
          <p:cNvSpPr/>
          <p:nvPr/>
        </p:nvSpPr>
        <p:spPr>
          <a:xfrm rot="-5500207">
            <a:off x="905181" y="8599371"/>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16">
              <a:extLst>
                <a:ext uri="{96DAC541-7B7A-43D3-8B79-37D633B846F1}">
                  <asvg:svgBlip xmlns="" xmlns:asvg="http://schemas.microsoft.com/office/drawing/2016/SVG/main" r:embed="rId17"/>
                </a:ext>
              </a:extLst>
            </a:blip>
            <a:stretch>
              <a:fillRect/>
            </a:stretch>
          </a:blipFill>
        </p:spPr>
      </p:sp>
      <p:grpSp>
        <p:nvGrpSpPr>
          <p:cNvPr id="16" name="Group 16"/>
          <p:cNvGrpSpPr/>
          <p:nvPr/>
        </p:nvGrpSpPr>
        <p:grpSpPr>
          <a:xfrm>
            <a:off x="5644433" y="184930"/>
            <a:ext cx="7040819" cy="939006"/>
            <a:chOff x="0" y="0"/>
            <a:chExt cx="2860316" cy="381469"/>
          </a:xfrm>
        </p:grpSpPr>
        <p:sp>
          <p:nvSpPr>
            <p:cNvPr id="17" name="Freeform 17"/>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id="18" name="TextBox 18"/>
            <p:cNvSpPr txBox="1"/>
            <p:nvPr/>
          </p:nvSpPr>
          <p:spPr>
            <a:xfrm>
              <a:off x="0" y="-38100"/>
              <a:ext cx="2860316" cy="419569"/>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rot="-5500207" flipH="1">
            <a:off x="13888533" y="3662645"/>
            <a:ext cx="1402006" cy="1402006"/>
          </a:xfrm>
          <a:custGeom>
            <a:avLst/>
            <a:gdLst/>
            <a:ahLst/>
            <a:cxnLst/>
            <a:rect l="l" t="t" r="r" b="b"/>
            <a:pathLst>
              <a:path w="1402006" h="1402006">
                <a:moveTo>
                  <a:pt x="1402006" y="0"/>
                </a:moveTo>
                <a:lnTo>
                  <a:pt x="0" y="0"/>
                </a:lnTo>
                <a:lnTo>
                  <a:pt x="0" y="1402006"/>
                </a:lnTo>
                <a:lnTo>
                  <a:pt x="1402006" y="1402006"/>
                </a:lnTo>
                <a:lnTo>
                  <a:pt x="1402006" y="0"/>
                </a:lnTo>
                <a:close/>
              </a:path>
            </a:pathLst>
          </a:custGeom>
          <a:blipFill>
            <a:blip r:embed="rId16">
              <a:extLst>
                <a:ext uri="{96DAC541-7B7A-43D3-8B79-37D633B846F1}">
                  <asvg:svgBlip xmlns="" xmlns:asvg="http://schemas.microsoft.com/office/drawing/2016/SVG/main" r:embed="rId17"/>
                </a:ext>
              </a:extLst>
            </a:blip>
            <a:stretch>
              <a:fillRect/>
            </a:stretch>
          </a:blipFill>
        </p:spPr>
      </p:sp>
      <p:sp>
        <p:nvSpPr>
          <p:cNvPr id="20" name="TextBox 20"/>
          <p:cNvSpPr txBox="1"/>
          <p:nvPr/>
        </p:nvSpPr>
        <p:spPr>
          <a:xfrm>
            <a:off x="5876690" y="487985"/>
            <a:ext cx="6235667" cy="584327"/>
          </a:xfrm>
          <a:prstGeom prst="rect">
            <a:avLst/>
          </a:prstGeom>
        </p:spPr>
        <p:txBody>
          <a:bodyPr lIns="0" tIns="0" rIns="0" bIns="0" rtlCol="0" anchor="t">
            <a:spAutoFit/>
          </a:bodyPr>
          <a:lstStyle/>
          <a:p>
            <a:pPr algn="ctr">
              <a:lnSpc>
                <a:spcPts val="4200"/>
              </a:lnSpc>
            </a:pPr>
            <a:r>
              <a:rPr lang="en-US" sz="6000" dirty="0">
                <a:solidFill>
                  <a:schemeClr val="dk1"/>
                </a:solidFill>
                <a:latin typeface="Times New Roman" panose="02020603050405020304" pitchFamily="18" charset="0"/>
                <a:ea typeface="Algerian"/>
                <a:cs typeface="Times New Roman" panose="02020603050405020304" pitchFamily="18" charset="0"/>
                <a:sym typeface="Algerian"/>
              </a:rPr>
              <a:t> </a:t>
            </a:r>
            <a:r>
              <a:rPr lang="en-US" sz="6000" u="sng" dirty="0">
                <a:solidFill>
                  <a:schemeClr val="dk1"/>
                </a:solidFill>
                <a:latin typeface="Times New Roman" panose="02020603050405020304" pitchFamily="18" charset="0"/>
                <a:ea typeface="Algerian"/>
                <a:cs typeface="Times New Roman" panose="02020603050405020304" pitchFamily="18" charset="0"/>
                <a:sym typeface="Algerian"/>
              </a:rPr>
              <a:t>CONTENTS</a:t>
            </a:r>
            <a:endParaRPr lang="en-US" sz="5400" b="1" dirty="0">
              <a:solidFill>
                <a:srgbClr val="222366"/>
              </a:solidFill>
              <a:latin typeface="Times New Roman" panose="02020603050405020304" pitchFamily="18" charset="0"/>
              <a:ea typeface="Public Sans Bold"/>
              <a:cs typeface="Times New Roman" panose="02020603050405020304" pitchFamily="18" charset="0"/>
              <a:sym typeface="Public Sans Bold"/>
            </a:endParaRPr>
          </a:p>
        </p:txBody>
      </p:sp>
      <p:sp>
        <p:nvSpPr>
          <p:cNvPr id="22" name="Rectangle 21"/>
          <p:cNvSpPr/>
          <p:nvPr/>
        </p:nvSpPr>
        <p:spPr>
          <a:xfrm>
            <a:off x="3772253" y="1338258"/>
            <a:ext cx="10381406" cy="8217634"/>
          </a:xfrm>
          <a:prstGeom prst="rect">
            <a:avLst/>
          </a:prstGeom>
        </p:spPr>
        <p:txBody>
          <a:bodyPr wrap="square">
            <a:spAutoFit/>
          </a:bodyPr>
          <a:lstStyle/>
          <a:p>
            <a:pPr marL="342900" lvl="0" indent="-342900">
              <a:lnSpc>
                <a:spcPct val="150000"/>
              </a:lnSpc>
              <a:buClr>
                <a:schemeClr val="dk1"/>
              </a:buClr>
              <a:buSzPts val="3200"/>
              <a:buFont typeface="Noto Sans Symbols"/>
              <a:buChar char="⮚"/>
            </a:pPr>
            <a:r>
              <a:rPr lang="en-US" sz="3200" b="1" dirty="0">
                <a:latin typeface="Times New Roman" panose="02020603050405020304" pitchFamily="18" charset="0"/>
                <a:ea typeface="Times New Roman"/>
                <a:cs typeface="Times New Roman" panose="02020603050405020304" pitchFamily="18" charset="0"/>
                <a:sym typeface="Times New Roman"/>
              </a:rPr>
              <a:t>ABSTRACT</a:t>
            </a:r>
            <a:endParaRPr lang="en-US" sz="3200" b="1" dirty="0">
              <a:latin typeface="Times New Roman" panose="02020603050405020304" pitchFamily="18" charset="0"/>
              <a:cs typeface="Times New Roman" panose="02020603050405020304" pitchFamily="18" charset="0"/>
              <a:sym typeface="Times New Roman"/>
            </a:endParaRPr>
          </a:p>
          <a:p>
            <a:pPr marL="342900" lvl="0" indent="-342900">
              <a:lnSpc>
                <a:spcPct val="150000"/>
              </a:lnSpc>
              <a:buClr>
                <a:schemeClr val="dk1"/>
              </a:buClr>
              <a:buSzPts val="3200"/>
              <a:buFont typeface="Noto Sans Symbols"/>
              <a:buChar char="⮚"/>
            </a:pPr>
            <a:r>
              <a:rPr lang="en-US" sz="3200" b="1" dirty="0">
                <a:latin typeface="Times New Roman" panose="02020603050405020304" pitchFamily="18" charset="0"/>
                <a:ea typeface="Times New Roman"/>
                <a:cs typeface="Times New Roman" panose="02020603050405020304" pitchFamily="18" charset="0"/>
                <a:sym typeface="Times New Roman"/>
              </a:rPr>
              <a:t>INTRODUCTION</a:t>
            </a:r>
            <a:r>
              <a:rPr lang="en-US" sz="3200" b="1" dirty="0">
                <a:latin typeface="Times New Roman"/>
                <a:ea typeface="Times New Roman"/>
                <a:cs typeface="Times New Roman"/>
                <a:sym typeface="Times New Roman"/>
              </a:rPr>
              <a:t> </a:t>
            </a:r>
          </a:p>
          <a:p>
            <a:pPr marL="342900" lvl="0" indent="-342900">
              <a:lnSpc>
                <a:spcPct val="150000"/>
              </a:lnSpc>
              <a:buClr>
                <a:schemeClr val="dk1"/>
              </a:buClr>
              <a:buSzPts val="3200"/>
              <a:buFont typeface="Noto Sans Symbols"/>
              <a:buChar char="⮚"/>
            </a:pPr>
            <a:r>
              <a:rPr lang="en-IN" sz="3200" b="1" dirty="0">
                <a:latin typeface="Times New Roman" panose="02020603050405020304" pitchFamily="18" charset="0"/>
                <a:cs typeface="Times New Roman" panose="02020603050405020304" pitchFamily="18" charset="0"/>
              </a:rPr>
              <a:t>LITERATURE REVIEW</a:t>
            </a:r>
            <a:endParaRPr lang="en-US" sz="3200" b="1" dirty="0">
              <a:latin typeface="Times New Roman" panose="02020603050405020304" pitchFamily="18" charset="0"/>
              <a:cs typeface="Times New Roman" panose="02020603050405020304" pitchFamily="18" charset="0"/>
            </a:endParaRPr>
          </a:p>
          <a:p>
            <a:pPr marL="342900" lvl="0" indent="-342900">
              <a:lnSpc>
                <a:spcPct val="150000"/>
              </a:lnSpc>
              <a:buClr>
                <a:schemeClr val="dk1"/>
              </a:buClr>
              <a:buSzPts val="3200"/>
              <a:buFont typeface="Noto Sans Symbols"/>
              <a:buChar char="⮚"/>
            </a:pPr>
            <a:r>
              <a:rPr lang="en-US" sz="3200" b="1" dirty="0">
                <a:latin typeface="Times New Roman" panose="02020603050405020304" pitchFamily="18" charset="0"/>
                <a:ea typeface="Alice"/>
                <a:cs typeface="Times New Roman" panose="02020603050405020304" pitchFamily="18" charset="0"/>
                <a:sym typeface="Alice"/>
              </a:rPr>
              <a:t>PROBLEM STATEMENT</a:t>
            </a:r>
          </a:p>
          <a:p>
            <a:pPr marL="342900" lvl="0" indent="-342900">
              <a:lnSpc>
                <a:spcPct val="150000"/>
              </a:lnSpc>
              <a:buClr>
                <a:schemeClr val="dk1"/>
              </a:buClr>
              <a:buSzPts val="3200"/>
              <a:buFont typeface="Noto Sans Symbols"/>
              <a:buChar char="⮚"/>
            </a:pPr>
            <a:r>
              <a:rPr lang="en-US" sz="3200" b="1" dirty="0">
                <a:latin typeface="Times New Roman" panose="02020603050405020304" pitchFamily="18" charset="0"/>
                <a:cs typeface="Times New Roman" panose="02020603050405020304" pitchFamily="18" charset="0"/>
                <a:sym typeface="Alice"/>
              </a:rPr>
              <a:t>IMPLEMENTATION</a:t>
            </a:r>
            <a:endParaRPr lang="en-US" sz="3200" b="1" dirty="0">
              <a:latin typeface="Times New Roman" panose="02020603050405020304" pitchFamily="18" charset="0"/>
              <a:cs typeface="Times New Roman" panose="02020603050405020304" pitchFamily="18" charset="0"/>
            </a:endParaRPr>
          </a:p>
          <a:p>
            <a:pPr marL="342900" lvl="0" indent="-342900">
              <a:lnSpc>
                <a:spcPct val="150000"/>
              </a:lnSpc>
              <a:buClr>
                <a:schemeClr val="dk1"/>
              </a:buClr>
              <a:buSzPts val="3200"/>
              <a:buFont typeface="Noto Sans Symbols"/>
              <a:buChar char="⮚"/>
            </a:pPr>
            <a:r>
              <a:rPr lang="en-US" sz="3200" b="1" dirty="0">
                <a:latin typeface="Times New Roman" panose="02020603050405020304" pitchFamily="18" charset="0"/>
                <a:ea typeface="Alice"/>
                <a:cs typeface="Times New Roman" panose="02020603050405020304" pitchFamily="18" charset="0"/>
                <a:sym typeface="Alice"/>
              </a:rPr>
              <a:t>OBJECTIVES</a:t>
            </a:r>
            <a:endParaRPr lang="en-US" sz="3200" b="1" dirty="0">
              <a:latin typeface="Times New Roman" panose="02020603050405020304" pitchFamily="18" charset="0"/>
              <a:cs typeface="Times New Roman" panose="02020603050405020304" pitchFamily="18" charset="0"/>
            </a:endParaRPr>
          </a:p>
          <a:p>
            <a:pPr marL="342900" lvl="0" indent="-342900">
              <a:lnSpc>
                <a:spcPct val="150000"/>
              </a:lnSpc>
              <a:buClr>
                <a:schemeClr val="dk1"/>
              </a:buClr>
              <a:buSzPts val="3200"/>
              <a:buFont typeface="Noto Sans Symbols"/>
              <a:buChar char="⮚"/>
            </a:pPr>
            <a:r>
              <a:rPr lang="en-US" sz="3200" b="1" dirty="0">
                <a:latin typeface="Times New Roman" panose="02020603050405020304" pitchFamily="18" charset="0"/>
                <a:ea typeface="Times New Roman"/>
                <a:cs typeface="Times New Roman" panose="02020603050405020304" pitchFamily="18" charset="0"/>
                <a:sym typeface="Times New Roman"/>
              </a:rPr>
              <a:t>SCOPE AND IMPACT OF </a:t>
            </a:r>
            <a:r>
              <a:rPr lang="en-US" sz="3200" b="1" dirty="0" smtClean="0">
                <a:latin typeface="Times New Roman" panose="02020603050405020304" pitchFamily="18" charset="0"/>
                <a:ea typeface="Times New Roman"/>
                <a:cs typeface="Times New Roman" panose="02020603050405020304" pitchFamily="18" charset="0"/>
                <a:sym typeface="Times New Roman"/>
              </a:rPr>
              <a:t>PROJECT</a:t>
            </a:r>
          </a:p>
          <a:p>
            <a:pPr marL="342900" lvl="0" indent="-342900">
              <a:lnSpc>
                <a:spcPct val="150000"/>
              </a:lnSpc>
              <a:buClr>
                <a:schemeClr val="dk1"/>
              </a:buClr>
              <a:buSzPts val="3200"/>
              <a:buFont typeface="Noto Sans Symbols"/>
              <a:buChar char="⮚"/>
            </a:pPr>
            <a:r>
              <a:rPr lang="en-US" sz="3200" b="1" dirty="0" smtClean="0">
                <a:latin typeface="Times New Roman" panose="02020603050405020304" pitchFamily="18" charset="0"/>
                <a:ea typeface="Times New Roman"/>
                <a:cs typeface="Times New Roman" panose="02020603050405020304" pitchFamily="18" charset="0"/>
                <a:sym typeface="Times New Roman"/>
              </a:rPr>
              <a:t>WORKFLOW </a:t>
            </a:r>
            <a:r>
              <a:rPr lang="en-US" sz="3200" b="1" dirty="0">
                <a:latin typeface="Times New Roman" panose="02020603050405020304" pitchFamily="18" charset="0"/>
                <a:ea typeface="Times New Roman"/>
                <a:cs typeface="Times New Roman" panose="02020603050405020304" pitchFamily="18" charset="0"/>
                <a:sym typeface="Times New Roman"/>
              </a:rPr>
              <a:t>DIAGRAM</a:t>
            </a:r>
            <a:endParaRPr lang="en-US" sz="3200" b="1" dirty="0">
              <a:latin typeface="Times New Roman" panose="02020603050405020304" pitchFamily="18" charset="0"/>
              <a:cs typeface="Times New Roman" panose="02020603050405020304" pitchFamily="18" charset="0"/>
            </a:endParaRPr>
          </a:p>
          <a:p>
            <a:pPr marL="342900" lvl="0" indent="-342900">
              <a:lnSpc>
                <a:spcPct val="150000"/>
              </a:lnSpc>
              <a:buClr>
                <a:schemeClr val="dk1"/>
              </a:buClr>
              <a:buSzPts val="3200"/>
              <a:buFont typeface="Noto Sans Symbols"/>
              <a:buChar char="⮚"/>
            </a:pPr>
            <a:r>
              <a:rPr lang="en-US" sz="3200" b="1" dirty="0">
                <a:latin typeface="Times New Roman" panose="02020603050405020304" pitchFamily="18" charset="0"/>
                <a:ea typeface="Times New Roman"/>
                <a:cs typeface="Times New Roman" panose="02020603050405020304" pitchFamily="18" charset="0"/>
                <a:sym typeface="Times New Roman"/>
              </a:rPr>
              <a:t> SOFTWARE AND HARDWARE REQUIREMENTS</a:t>
            </a:r>
          </a:p>
          <a:p>
            <a:pPr marL="342900" lvl="0" indent="-342900">
              <a:lnSpc>
                <a:spcPct val="150000"/>
              </a:lnSpc>
              <a:buClr>
                <a:schemeClr val="dk1"/>
              </a:buClr>
              <a:buSzPts val="3200"/>
              <a:buFont typeface="Noto Sans Symbols"/>
              <a:buChar char="⮚"/>
            </a:pPr>
            <a:r>
              <a:rPr lang="en-US" sz="3200" b="1" dirty="0">
                <a:latin typeface="Times New Roman" panose="02020603050405020304" pitchFamily="18" charset="0"/>
                <a:ea typeface="Times New Roman"/>
                <a:cs typeface="Times New Roman" panose="02020603050405020304" pitchFamily="18" charset="0"/>
                <a:sym typeface="Times New Roman"/>
              </a:rPr>
              <a:t>CONCLUSION</a:t>
            </a:r>
            <a:endParaRPr lang="en-US" sz="3200" b="1" dirty="0">
              <a:latin typeface="Times New Roman" panose="02020603050405020304" pitchFamily="18" charset="0"/>
              <a:cs typeface="Times New Roman" panose="02020603050405020304" pitchFamily="18" charset="0"/>
            </a:endParaRPr>
          </a:p>
          <a:p>
            <a:pPr marL="342900" lvl="0" indent="-342900">
              <a:lnSpc>
                <a:spcPct val="150000"/>
              </a:lnSpc>
              <a:buClr>
                <a:schemeClr val="dk1"/>
              </a:buClr>
              <a:buSzPts val="3200"/>
              <a:buFont typeface="Noto Sans Symbols"/>
              <a:buChar char="⮚"/>
            </a:pPr>
            <a:r>
              <a:rPr lang="en-US" sz="3200" b="1" dirty="0">
                <a:latin typeface="Times New Roman" panose="02020603050405020304" pitchFamily="18" charset="0"/>
                <a:ea typeface="Times New Roman"/>
                <a:cs typeface="Times New Roman" panose="02020603050405020304" pitchFamily="18" charset="0"/>
                <a:sym typeface="Times New Roman"/>
              </a:rPr>
              <a:t>REFERENCES</a:t>
            </a:r>
            <a:endParaRPr lang="en-US" sz="3200" b="1" dirty="0">
              <a:latin typeface="Times New Roman" panose="02020603050405020304" pitchFamily="18" charset="0"/>
              <a:cs typeface="Times New Roman" panose="02020603050405020304" pitchFamily="18" charset="0"/>
            </a:endParaRPr>
          </a:p>
        </p:txBody>
      </p:sp>
      <p:sp>
        <p:nvSpPr>
          <p:cNvPr id="23" name="Freeform 13"/>
          <p:cNvSpPr/>
          <p:nvPr/>
        </p:nvSpPr>
        <p:spPr>
          <a:xfrm rot="-1248570">
            <a:off x="-109020" y="-206260"/>
            <a:ext cx="2885297" cy="4111175"/>
          </a:xfrm>
          <a:custGeom>
            <a:avLst/>
            <a:gdLst/>
            <a:ahLst/>
            <a:cxnLst/>
            <a:rect l="l" t="t" r="r" b="b"/>
            <a:pathLst>
              <a:path w="2885297" h="4111175">
                <a:moveTo>
                  <a:pt x="0" y="0"/>
                </a:moveTo>
                <a:lnTo>
                  <a:pt x="2885297" y="0"/>
                </a:lnTo>
                <a:lnTo>
                  <a:pt x="2885297" y="4111175"/>
                </a:lnTo>
                <a:lnTo>
                  <a:pt x="0" y="4111175"/>
                </a:lnTo>
                <a:lnTo>
                  <a:pt x="0" y="0"/>
                </a:lnTo>
                <a:close/>
              </a:path>
            </a:pathLst>
          </a:custGeom>
          <a:blipFill>
            <a:blip r:embed="rId12">
              <a:extLst>
                <a:ext uri="{96DAC541-7B7A-43D3-8B79-37D633B846F1}">
                  <asvg:svgBlip xmlns="" xmlns:asvg="http://schemas.microsoft.com/office/drawing/2016/SVG/main" r:embed="rId13"/>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710140" y="2560561"/>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2598715" y="-615042"/>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4" name="Group 4"/>
          <p:cNvGrpSpPr/>
          <p:nvPr/>
        </p:nvGrpSpPr>
        <p:grpSpPr>
          <a:xfrm>
            <a:off x="488696" y="364688"/>
            <a:ext cx="17310608" cy="9505931"/>
            <a:chOff x="0" y="0"/>
            <a:chExt cx="774713" cy="425425"/>
          </a:xfrm>
        </p:grpSpPr>
        <p:sp>
          <p:nvSpPr>
            <p:cNvPr id="5" name="Freeform 5"/>
            <p:cNvSpPr/>
            <p:nvPr/>
          </p:nvSpPr>
          <p:spPr>
            <a:xfrm>
              <a:off x="0" y="0"/>
              <a:ext cx="774713" cy="425425"/>
            </a:xfrm>
            <a:custGeom>
              <a:avLst/>
              <a:gdLst/>
              <a:ahLst/>
              <a:cxnLst/>
              <a:rect l="l" t="t" r="r" b="b"/>
              <a:pathLst>
                <a:path w="774713" h="425425">
                  <a:moveTo>
                    <a:pt x="571513" y="0"/>
                  </a:moveTo>
                  <a:cubicBezTo>
                    <a:pt x="683737" y="0"/>
                    <a:pt x="774713" y="95235"/>
                    <a:pt x="774713" y="212713"/>
                  </a:cubicBezTo>
                  <a:cubicBezTo>
                    <a:pt x="774713" y="330191"/>
                    <a:pt x="683737" y="425425"/>
                    <a:pt x="57151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sp>
        <p:sp>
          <p:nvSpPr>
            <p:cNvPr id="6" name="TextBox 6"/>
            <p:cNvSpPr txBox="1"/>
            <p:nvPr/>
          </p:nvSpPr>
          <p:spPr>
            <a:xfrm>
              <a:off x="0" y="-38100"/>
              <a:ext cx="774713" cy="463525"/>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rot="-137149">
            <a:off x="798905" y="39208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9" name="Freeform 9"/>
          <p:cNvSpPr/>
          <p:nvPr/>
        </p:nvSpPr>
        <p:spPr>
          <a:xfrm rot="-1248570">
            <a:off x="558321" y="6346755"/>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4" name="TextBox 14"/>
          <p:cNvSpPr txBox="1"/>
          <p:nvPr/>
        </p:nvSpPr>
        <p:spPr>
          <a:xfrm>
            <a:off x="2825457" y="1008174"/>
            <a:ext cx="12637084" cy="2164247"/>
          </a:xfrm>
          <a:prstGeom prst="rect">
            <a:avLst/>
          </a:prstGeom>
        </p:spPr>
        <p:txBody>
          <a:bodyPr lIns="0" tIns="0" rIns="0" bIns="0" rtlCol="0" anchor="t">
            <a:spAutoFit/>
          </a:bodyPr>
          <a:lstStyle/>
          <a:p>
            <a:pPr algn="ctr">
              <a:lnSpc>
                <a:spcPts val="8819"/>
              </a:lnSpc>
            </a:pPr>
            <a:r>
              <a:rPr lang="en-US" sz="6600" b="1" u="sng" dirty="0">
                <a:solidFill>
                  <a:schemeClr val="dk1"/>
                </a:solidFill>
                <a:latin typeface="Times New Roman" panose="02020603050405020304" pitchFamily="18" charset="0"/>
                <a:ea typeface="Algerian"/>
                <a:cs typeface="Times New Roman" panose="02020603050405020304" pitchFamily="18" charset="0"/>
                <a:sym typeface="Algerian"/>
              </a:rPr>
              <a:t>ABSTRACT</a:t>
            </a:r>
            <a:endParaRPr lang="en-US" sz="6600" b="1" dirty="0">
              <a:solidFill>
                <a:srgbClr val="7B5844"/>
              </a:solidFill>
              <a:latin typeface="Times New Roman" panose="02020603050405020304" pitchFamily="18" charset="0"/>
              <a:ea typeface="Algerian"/>
              <a:cs typeface="Times New Roman" panose="02020603050405020304" pitchFamily="18" charset="0"/>
              <a:sym typeface="Algerian"/>
            </a:endParaRPr>
          </a:p>
          <a:p>
            <a:pPr algn="ctr">
              <a:lnSpc>
                <a:spcPts val="8819"/>
              </a:lnSpc>
            </a:pPr>
            <a:endParaRPr lang="en-US" sz="6300" dirty="0">
              <a:solidFill>
                <a:srgbClr val="222366"/>
              </a:solidFill>
              <a:latin typeface="Times New Roman" panose="02020603050405020304" pitchFamily="18" charset="0"/>
              <a:ea typeface="Brick Sans"/>
              <a:cs typeface="Times New Roman" panose="02020603050405020304" pitchFamily="18" charset="0"/>
              <a:sym typeface="Brick Sans"/>
            </a:endParaRPr>
          </a:p>
        </p:txBody>
      </p:sp>
      <p:sp>
        <p:nvSpPr>
          <p:cNvPr id="16" name="Rectangle 15"/>
          <p:cNvSpPr/>
          <p:nvPr/>
        </p:nvSpPr>
        <p:spPr>
          <a:xfrm>
            <a:off x="2995448" y="2679717"/>
            <a:ext cx="12835545" cy="5509200"/>
          </a:xfrm>
          <a:prstGeom prst="rect">
            <a:avLst/>
          </a:prstGeom>
        </p:spPr>
        <p:txBody>
          <a:bodyPr wrap="square">
            <a:spAutoFit/>
          </a:bodyPr>
          <a:lstStyle/>
          <a:p>
            <a:pPr algn="just"/>
            <a:r>
              <a:rPr lang="en-US" sz="3200" dirty="0">
                <a:latin typeface="Times New Roman" panose="02020603050405020304" pitchFamily="18" charset="0"/>
                <a:cs typeface="Times New Roman" panose="02020603050405020304" pitchFamily="18" charset="0"/>
              </a:rPr>
              <a:t>Diabetes is among critical diseases and lots of people are suffering from this disease. Age, obesity, lack of exercise, hereditary diabetes, living style, bad diet, high blood pressure, etc. can cause Diabetes. People having diabetes have high risk of diseases like heart disease, kidney disease, stroke, eye problem, nerve damage, etc.</a:t>
            </a:r>
            <a:r>
              <a:rPr lang="en-IN" sz="3200" dirty="0">
                <a:latin typeface="Times New Roman" panose="02020603050405020304" pitchFamily="18" charset="0"/>
                <a:cs typeface="Times New Roman" panose="02020603050405020304" pitchFamily="18" charset="0"/>
              </a:rPr>
              <a:t>This project aims to design and implement a Diabetes Detection System that leverages AI and machine learning to predict the likelihood of diabetes based on various health metrics such as glucose level, BMI, blood pressure, and age. Using advanced algorithms, the system identifies high-risk individuals early, aiding in timely intervention and preventive healthcare. The proposed solution is scalable and accessible through web-based and mobile platforms, ensuring wide usability.</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4319029" y="2999289"/>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9859897" y="-671355"/>
            <a:ext cx="7399403" cy="11629710"/>
          </a:xfrm>
          <a:custGeom>
            <a:avLst/>
            <a:gdLst/>
            <a:ahLst/>
            <a:cxnLst/>
            <a:rect l="l" t="t" r="r" b="b"/>
            <a:pathLst>
              <a:path w="7399403" h="11629710">
                <a:moveTo>
                  <a:pt x="0" y="0"/>
                </a:moveTo>
                <a:lnTo>
                  <a:pt x="7399403" y="0"/>
                </a:lnTo>
                <a:lnTo>
                  <a:pt x="7399403" y="11629710"/>
                </a:lnTo>
                <a:lnTo>
                  <a:pt x="0" y="1162971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4" name="Group 4"/>
          <p:cNvGrpSpPr/>
          <p:nvPr/>
        </p:nvGrpSpPr>
        <p:grpSpPr>
          <a:xfrm>
            <a:off x="10700522" y="1153874"/>
            <a:ext cx="5694209" cy="8280195"/>
            <a:chOff x="0" y="0"/>
            <a:chExt cx="812800" cy="1181928"/>
          </a:xfrm>
        </p:grpSpPr>
        <p:sp>
          <p:nvSpPr>
            <p:cNvPr id="5" name="Freeform 5"/>
            <p:cNvSpPr/>
            <p:nvPr/>
          </p:nvSpPr>
          <p:spPr>
            <a:xfrm>
              <a:off x="0" y="0"/>
              <a:ext cx="812800" cy="1181927"/>
            </a:xfrm>
            <a:custGeom>
              <a:avLst/>
              <a:gdLst/>
              <a:ahLst/>
              <a:cxnLst/>
              <a:rect l="l" t="t" r="r" b="b"/>
              <a:pathLst>
                <a:path w="812800" h="1181927">
                  <a:moveTo>
                    <a:pt x="0" y="0"/>
                  </a:moveTo>
                  <a:lnTo>
                    <a:pt x="812800" y="0"/>
                  </a:lnTo>
                  <a:lnTo>
                    <a:pt x="812800" y="1181927"/>
                  </a:lnTo>
                  <a:lnTo>
                    <a:pt x="0" y="1181927"/>
                  </a:lnTo>
                  <a:close/>
                </a:path>
              </a:pathLst>
            </a:custGeom>
            <a:solidFill>
              <a:srgbClr val="E9EAF6"/>
            </a:solidFill>
          </p:spPr>
        </p:sp>
        <p:sp>
          <p:nvSpPr>
            <p:cNvPr id="6" name="TextBox 6"/>
            <p:cNvSpPr txBox="1"/>
            <p:nvPr/>
          </p:nvSpPr>
          <p:spPr>
            <a:xfrm>
              <a:off x="0" y="-38100"/>
              <a:ext cx="812800" cy="1220028"/>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5447832" y="4858426"/>
            <a:ext cx="6410088" cy="6901845"/>
          </a:xfrm>
          <a:custGeom>
            <a:avLst/>
            <a:gdLst/>
            <a:ahLst/>
            <a:cxnLst/>
            <a:rect l="l" t="t" r="r" b="b"/>
            <a:pathLst>
              <a:path w="6410088" h="6901845">
                <a:moveTo>
                  <a:pt x="0" y="0"/>
                </a:moveTo>
                <a:lnTo>
                  <a:pt x="6410088" y="0"/>
                </a:lnTo>
                <a:lnTo>
                  <a:pt x="6410088" y="6901845"/>
                </a:lnTo>
                <a:lnTo>
                  <a:pt x="0" y="6901845"/>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8" name="Freeform 8"/>
          <p:cNvSpPr/>
          <p:nvPr/>
        </p:nvSpPr>
        <p:spPr>
          <a:xfrm rot="-1248570">
            <a:off x="7709921" y="64751"/>
            <a:ext cx="1885910" cy="2687178"/>
          </a:xfrm>
          <a:custGeom>
            <a:avLst/>
            <a:gdLst/>
            <a:ahLst/>
            <a:cxnLst/>
            <a:rect l="l" t="t" r="r" b="b"/>
            <a:pathLst>
              <a:path w="1885910" h="2687178">
                <a:moveTo>
                  <a:pt x="0" y="0"/>
                </a:moveTo>
                <a:lnTo>
                  <a:pt x="1885910" y="0"/>
                </a:lnTo>
                <a:lnTo>
                  <a:pt x="1885910" y="2687178"/>
                </a:lnTo>
                <a:lnTo>
                  <a:pt x="0" y="2687178"/>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9" name="TextBox 9"/>
          <p:cNvSpPr txBox="1"/>
          <p:nvPr/>
        </p:nvSpPr>
        <p:spPr>
          <a:xfrm>
            <a:off x="10783407" y="2185868"/>
            <a:ext cx="5528439" cy="410305"/>
          </a:xfrm>
          <a:prstGeom prst="rect">
            <a:avLst/>
          </a:prstGeom>
        </p:spPr>
        <p:txBody>
          <a:bodyPr lIns="0" tIns="0" rIns="0" bIns="0" rtlCol="0" anchor="t">
            <a:spAutoFit/>
          </a:bodyPr>
          <a:lstStyle/>
          <a:p>
            <a:pPr algn="ctr">
              <a:lnSpc>
                <a:spcPts val="3499"/>
              </a:lnSpc>
            </a:pPr>
            <a:endParaRPr lang="en-US" sz="2499" dirty="0">
              <a:solidFill>
                <a:srgbClr val="222366"/>
              </a:solidFill>
              <a:latin typeface="Public Sans"/>
              <a:ea typeface="Public Sans"/>
              <a:cs typeface="Public Sans"/>
              <a:sym typeface="Public Sans"/>
            </a:endParaRPr>
          </a:p>
        </p:txBody>
      </p:sp>
      <p:sp>
        <p:nvSpPr>
          <p:cNvPr id="10" name="TextBox 10"/>
          <p:cNvSpPr txBox="1"/>
          <p:nvPr/>
        </p:nvSpPr>
        <p:spPr>
          <a:xfrm>
            <a:off x="10756383" y="1814383"/>
            <a:ext cx="5528439" cy="6658233"/>
          </a:xfrm>
          <a:prstGeom prst="rect">
            <a:avLst/>
          </a:prstGeom>
        </p:spPr>
        <p:txBody>
          <a:bodyPr lIns="0" tIns="0" rIns="0" bIns="0" rtlCol="0" anchor="t">
            <a:spAutoFit/>
          </a:bodyPr>
          <a:lstStyle/>
          <a:p>
            <a:pPr lvl="0"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How does diabetes work?</a:t>
            </a:r>
          </a:p>
          <a:p>
            <a:pPr lvl="0" eaLnBrk="0" fontAlgn="base" hangingPunct="0">
              <a:spcBef>
                <a:spcPct val="0"/>
              </a:spcBef>
              <a:spcAft>
                <a:spcPct val="0"/>
              </a:spcAft>
            </a:pPr>
            <a:endParaRPr lang="en-US" altLang="en-US" sz="3200" b="1"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800" b="1" dirty="0">
                <a:latin typeface="Times New Roman" panose="02020603050405020304" pitchFamily="18" charset="0"/>
                <a:cs typeface="Times New Roman" panose="02020603050405020304" pitchFamily="18" charset="0"/>
              </a:rPr>
              <a:t>Insulin:</a:t>
            </a:r>
            <a:r>
              <a:rPr lang="en-US" altLang="en-US" sz="2800" dirty="0">
                <a:latin typeface="Times New Roman" panose="02020603050405020304" pitchFamily="18" charset="0"/>
                <a:cs typeface="Times New Roman" panose="02020603050405020304" pitchFamily="18" charset="0"/>
              </a:rPr>
              <a:t> A hormone produced by the pancreas, insulin helps glucose get into your cells to be used for energy. </a:t>
            </a:r>
          </a:p>
          <a:p>
            <a:pPr lvl="0" eaLnBrk="0" fontAlgn="base" hangingPunct="0">
              <a:spcBef>
                <a:spcPct val="0"/>
              </a:spcBef>
              <a:spcAft>
                <a:spcPct val="0"/>
              </a:spcAft>
              <a:buFontTx/>
              <a:buChar char="•"/>
            </a:pPr>
            <a:endParaRPr lang="en-US" altLang="en-US" sz="28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800" b="1" dirty="0">
                <a:latin typeface="Times New Roman" panose="02020603050405020304" pitchFamily="18" charset="0"/>
                <a:cs typeface="Times New Roman" panose="02020603050405020304" pitchFamily="18" charset="0"/>
              </a:rPr>
              <a:t>Diabetes:</a:t>
            </a:r>
            <a:r>
              <a:rPr lang="en-US" altLang="en-US" sz="2800" dirty="0">
                <a:latin typeface="Times New Roman" panose="02020603050405020304" pitchFamily="18" charset="0"/>
                <a:cs typeface="Times New Roman" panose="02020603050405020304" pitchFamily="18" charset="0"/>
              </a:rPr>
              <a:t> When you have diabetes, your body either doesn't produce enough insulin or doesn't use insulin properly. This causes glucose to build up in your blood.</a:t>
            </a:r>
          </a:p>
          <a:p>
            <a:pPr algn="ctr">
              <a:lnSpc>
                <a:spcPts val="3499"/>
              </a:lnSpc>
            </a:pPr>
            <a:endParaRPr lang="en-US" sz="2800" dirty="0">
              <a:latin typeface="Times New Roman" panose="02020603050405020304" pitchFamily="18" charset="0"/>
              <a:ea typeface="Nirmala UI" panose="020B0502040204020203" pitchFamily="34" charset="0"/>
              <a:cs typeface="Times New Roman" panose="02020603050405020304" pitchFamily="18" charset="0"/>
              <a:sym typeface="Public Sans"/>
            </a:endParaRPr>
          </a:p>
          <a:p>
            <a:pPr algn="ctr">
              <a:lnSpc>
                <a:spcPts val="3499"/>
              </a:lnSpc>
            </a:pPr>
            <a:endParaRPr lang="en-US" sz="2800" dirty="0">
              <a:latin typeface="Times New Roman" panose="02020603050405020304" pitchFamily="18" charset="0"/>
              <a:ea typeface="Nirmala UI" panose="020B0502040204020203" pitchFamily="34" charset="0"/>
              <a:cs typeface="Times New Roman" panose="02020603050405020304" pitchFamily="18" charset="0"/>
              <a:sym typeface="Public Sans"/>
            </a:endParaRPr>
          </a:p>
          <a:p>
            <a:pPr>
              <a:lnSpc>
                <a:spcPts val="3499"/>
              </a:lnSpc>
            </a:pPr>
            <a:r>
              <a:rPr lang="en-IN" sz="2800" b="1"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ea typeface="Nirmala UI" panose="020B0502040204020203" pitchFamily="34" charset="0"/>
              <a:cs typeface="Times New Roman" panose="02020603050405020304" pitchFamily="18" charset="0"/>
              <a:sym typeface="Public Sans"/>
            </a:endParaRPr>
          </a:p>
          <a:p>
            <a:pPr algn="ctr">
              <a:lnSpc>
                <a:spcPts val="3499"/>
              </a:lnSpc>
            </a:pPr>
            <a:endParaRPr lang="en-US" sz="2800" dirty="0">
              <a:latin typeface="Times New Roman" panose="02020603050405020304" pitchFamily="18" charset="0"/>
              <a:ea typeface="Nirmala UI" panose="020B0502040204020203" pitchFamily="34" charset="0"/>
              <a:cs typeface="Times New Roman" panose="02020603050405020304" pitchFamily="18" charset="0"/>
              <a:sym typeface="Public Sans"/>
            </a:endParaRPr>
          </a:p>
        </p:txBody>
      </p:sp>
      <p:sp>
        <p:nvSpPr>
          <p:cNvPr id="11" name="TextBox 11"/>
          <p:cNvSpPr txBox="1"/>
          <p:nvPr/>
        </p:nvSpPr>
        <p:spPr>
          <a:xfrm>
            <a:off x="172310" y="847553"/>
            <a:ext cx="6147318" cy="1748620"/>
          </a:xfrm>
          <a:prstGeom prst="rect">
            <a:avLst/>
          </a:prstGeom>
        </p:spPr>
        <p:txBody>
          <a:bodyPr wrap="square" lIns="0" tIns="0" rIns="0" bIns="0" rtlCol="0" anchor="t">
            <a:spAutoFit/>
          </a:bodyPr>
          <a:lstStyle/>
          <a:p>
            <a:pPr>
              <a:lnSpc>
                <a:spcPts val="4480"/>
              </a:lnSpc>
            </a:pPr>
            <a:endParaRPr lang="en-US" sz="5400" b="1" dirty="0">
              <a:latin typeface="Times New Roman" panose="02020603050405020304" pitchFamily="18" charset="0"/>
              <a:ea typeface="Times New Roman"/>
              <a:cs typeface="Times New Roman" panose="02020603050405020304" pitchFamily="18" charset="0"/>
              <a:sym typeface="Times New Roman"/>
            </a:endParaRPr>
          </a:p>
          <a:p>
            <a:pPr>
              <a:lnSpc>
                <a:spcPts val="4480"/>
              </a:lnSpc>
            </a:pPr>
            <a:r>
              <a:rPr lang="en-US" sz="5400" b="1" dirty="0">
                <a:latin typeface="Times New Roman" panose="02020603050405020304" pitchFamily="18" charset="0"/>
                <a:ea typeface="Times New Roman"/>
                <a:cs typeface="Times New Roman" panose="02020603050405020304" pitchFamily="18" charset="0"/>
                <a:sym typeface="Times New Roman"/>
              </a:rPr>
              <a:t>  </a:t>
            </a:r>
            <a:r>
              <a:rPr lang="en-US" sz="5400" b="1" u="sng" dirty="0">
                <a:latin typeface="Times New Roman" panose="02020603050405020304" pitchFamily="18" charset="0"/>
                <a:ea typeface="Times New Roman"/>
                <a:cs typeface="Times New Roman" panose="02020603050405020304" pitchFamily="18" charset="0"/>
                <a:sym typeface="Times New Roman"/>
              </a:rPr>
              <a:t>INTRODUCTION</a:t>
            </a:r>
            <a:r>
              <a:rPr lang="en-US" sz="5400" b="1" dirty="0">
                <a:latin typeface="Times New Roman" panose="02020603050405020304" pitchFamily="18" charset="0"/>
                <a:ea typeface="Times New Roman"/>
                <a:cs typeface="Times New Roman" panose="02020603050405020304" pitchFamily="18" charset="0"/>
                <a:sym typeface="Times New Roman"/>
              </a:rPr>
              <a:t>            </a:t>
            </a:r>
          </a:p>
          <a:p>
            <a:pPr>
              <a:lnSpc>
                <a:spcPts val="4480"/>
              </a:lnSpc>
            </a:pPr>
            <a:r>
              <a:rPr lang="en-US" sz="5400" b="1" dirty="0">
                <a:latin typeface="Times New Roman" panose="02020603050405020304" pitchFamily="18" charset="0"/>
                <a:ea typeface="Times New Roman"/>
                <a:cs typeface="Times New Roman" panose="02020603050405020304" pitchFamily="18" charset="0"/>
                <a:sym typeface="Times New Roman"/>
              </a:rPr>
              <a:t>              </a:t>
            </a:r>
            <a:endParaRPr lang="en-US" sz="8000" b="1" u="sng" dirty="0">
              <a:solidFill>
                <a:srgbClr val="222366"/>
              </a:solidFill>
              <a:latin typeface="Public Sans Heavy"/>
              <a:ea typeface="Public Sans Heavy"/>
              <a:cs typeface="Public Sans Heavy"/>
              <a:sym typeface="Public Sans Heavy"/>
            </a:endParaRPr>
          </a:p>
        </p:txBody>
      </p:sp>
      <p:sp>
        <p:nvSpPr>
          <p:cNvPr id="14" name="Rectangle 1"/>
          <p:cNvSpPr>
            <a:spLocks noChangeArrowheads="1"/>
          </p:cNvSpPr>
          <p:nvPr/>
        </p:nvSpPr>
        <p:spPr bwMode="auto">
          <a:xfrm>
            <a:off x="381000" y="3196010"/>
            <a:ext cx="5486400" cy="698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3200" dirty="0">
                <a:latin typeface="Times New Roman" panose="02020603050405020304" pitchFamily="18" charset="0"/>
                <a:ea typeface="Nirmala UI" panose="020B0502040204020203" pitchFamily="34" charset="0"/>
                <a:cs typeface="Times New Roman" panose="02020603050405020304" pitchFamily="18" charset="0"/>
                <a:sym typeface="Public Sans"/>
              </a:rPr>
              <a:t>Diabetes is a chronic health condition affecting millions worldwide, with significant health and economic consequences. Early diagnosis is critical to manage the disease and prevent severe complications. However, traditional diagnostic methods are time-consuming, expensive, and not always accessible to everyone.</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Rectangle 1"/>
          <p:cNvSpPr/>
          <p:nvPr/>
        </p:nvSpPr>
        <p:spPr>
          <a:xfrm>
            <a:off x="5105400" y="372189"/>
            <a:ext cx="6922857" cy="830997"/>
          </a:xfrm>
          <a:prstGeom prst="rect">
            <a:avLst/>
          </a:prstGeom>
        </p:spPr>
        <p:txBody>
          <a:bodyPr wrap="none">
            <a:spAutoFit/>
          </a:bodyPr>
          <a:lstStyle/>
          <a:p>
            <a:r>
              <a:rPr lang="en-IN" sz="4800" b="1" u="sng" dirty="0">
                <a:latin typeface="Times New Roman" panose="02020603050405020304" pitchFamily="18" charset="0"/>
                <a:cs typeface="Times New Roman" panose="02020603050405020304" pitchFamily="18" charset="0"/>
              </a:rPr>
              <a:t>LITERATURE REVIEW</a:t>
            </a:r>
          </a:p>
        </p:txBody>
      </p:sp>
      <p:sp>
        <p:nvSpPr>
          <p:cNvPr id="4" name="Freeform 2"/>
          <p:cNvSpPr/>
          <p:nvPr/>
        </p:nvSpPr>
        <p:spPr>
          <a:xfrm>
            <a:off x="14706600" y="1638300"/>
            <a:ext cx="6934200" cy="8156075"/>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 name="Freeform 2"/>
          <p:cNvSpPr/>
          <p:nvPr/>
        </p:nvSpPr>
        <p:spPr>
          <a:xfrm rot="9530862">
            <a:off x="-5119719" y="1656198"/>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6" name="Freeform 9"/>
          <p:cNvSpPr/>
          <p:nvPr/>
        </p:nvSpPr>
        <p:spPr>
          <a:xfrm rot="-1248570">
            <a:off x="37821" y="-600876"/>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7" name="Freeform 12"/>
          <p:cNvSpPr/>
          <p:nvPr/>
        </p:nvSpPr>
        <p:spPr>
          <a:xfrm rot="-1257881">
            <a:off x="15509315" y="6503716"/>
            <a:ext cx="3549762" cy="3440042"/>
          </a:xfrm>
          <a:custGeom>
            <a:avLst/>
            <a:gdLst/>
            <a:ahLst/>
            <a:cxnLst/>
            <a:rect l="l" t="t" r="r" b="b"/>
            <a:pathLst>
              <a:path w="3549762" h="3440042">
                <a:moveTo>
                  <a:pt x="0" y="0"/>
                </a:moveTo>
                <a:lnTo>
                  <a:pt x="3549762" y="0"/>
                </a:lnTo>
                <a:lnTo>
                  <a:pt x="3549762" y="3440042"/>
                </a:lnTo>
                <a:lnTo>
                  <a:pt x="0" y="3440042"/>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graphicFrame>
        <p:nvGraphicFramePr>
          <p:cNvPr id="8" name="Table 7"/>
          <p:cNvGraphicFramePr>
            <a:graphicFrameLocks noGrp="1"/>
          </p:cNvGraphicFramePr>
          <p:nvPr>
            <p:extLst>
              <p:ext uri="{D42A27DB-BD31-4B8C-83A1-F6EECF244321}">
                <p14:modId xmlns:p14="http://schemas.microsoft.com/office/powerpoint/2010/main" val="2983693311"/>
              </p:ext>
            </p:extLst>
          </p:nvPr>
        </p:nvGraphicFramePr>
        <p:xfrm>
          <a:off x="1066800" y="1403630"/>
          <a:ext cx="16916401" cy="8260080"/>
        </p:xfrm>
        <a:graphic>
          <a:graphicData uri="http://schemas.openxmlformats.org/drawingml/2006/table">
            <a:tbl>
              <a:tblPr firstRow="1" bandRow="1"/>
              <a:tblGrid>
                <a:gridCol w="1600200"/>
                <a:gridCol w="3352800"/>
                <a:gridCol w="3200400"/>
                <a:gridCol w="2667000"/>
                <a:gridCol w="6096001"/>
              </a:tblGrid>
              <a:tr h="530204">
                <a:tc>
                  <a:txBody>
                    <a:bodyPr/>
                    <a:lstStyle/>
                    <a:p>
                      <a:r>
                        <a:rPr lang="en-US" sz="3200" dirty="0" err="1" smtClean="0">
                          <a:latin typeface="Times New Roman" pitchFamily="18" charset="0"/>
                          <a:cs typeface="Times New Roman" pitchFamily="18" charset="0"/>
                        </a:rPr>
                        <a:t>Sl.No</a:t>
                      </a:r>
                      <a:endParaRPr lang="en-IN" sz="3200" dirty="0">
                        <a:latin typeface="Times New Roman" pitchFamily="18" charset="0"/>
                        <a:cs typeface="Times New Roman" pitchFamily="18" charset="0"/>
                      </a:endParaRPr>
                    </a:p>
                  </a:txBody>
                  <a:tcPr/>
                </a:tc>
                <a:tc>
                  <a:txBody>
                    <a:bodyPr/>
                    <a:lstStyle/>
                    <a:p>
                      <a:r>
                        <a:rPr lang="en-US" sz="3200" dirty="0" smtClean="0">
                          <a:latin typeface="Times New Roman" pitchFamily="18" charset="0"/>
                          <a:cs typeface="Times New Roman" pitchFamily="18" charset="0"/>
                        </a:rPr>
                        <a:t>Paper</a:t>
                      </a:r>
                      <a:endParaRPr lang="en-IN" sz="3200" dirty="0">
                        <a:latin typeface="Times New Roman" pitchFamily="18" charset="0"/>
                        <a:cs typeface="Times New Roman" pitchFamily="18" charset="0"/>
                      </a:endParaRPr>
                    </a:p>
                  </a:txBody>
                  <a:tcPr/>
                </a:tc>
                <a:tc>
                  <a:txBody>
                    <a:bodyPr/>
                    <a:lstStyle/>
                    <a:p>
                      <a:r>
                        <a:rPr lang="en-US" sz="3200" dirty="0" smtClean="0">
                          <a:latin typeface="Times New Roman" pitchFamily="18" charset="0"/>
                          <a:cs typeface="Times New Roman" pitchFamily="18" charset="0"/>
                        </a:rPr>
                        <a:t>Author</a:t>
                      </a:r>
                      <a:endParaRPr lang="en-IN" sz="3200" dirty="0">
                        <a:latin typeface="Times New Roman" pitchFamily="18" charset="0"/>
                        <a:cs typeface="Times New Roman" pitchFamily="18" charset="0"/>
                      </a:endParaRPr>
                    </a:p>
                  </a:txBody>
                  <a:tcPr/>
                </a:tc>
                <a:tc>
                  <a:txBody>
                    <a:bodyPr/>
                    <a:lstStyle/>
                    <a:p>
                      <a:r>
                        <a:rPr lang="en-US" sz="3200" dirty="0" smtClean="0">
                          <a:latin typeface="Times New Roman" pitchFamily="18" charset="0"/>
                          <a:cs typeface="Times New Roman" pitchFamily="18" charset="0"/>
                        </a:rPr>
                        <a:t>Published</a:t>
                      </a:r>
                      <a:endParaRPr lang="en-IN" sz="3200" dirty="0">
                        <a:latin typeface="Times New Roman" pitchFamily="18" charset="0"/>
                        <a:cs typeface="Times New Roman" pitchFamily="18" charset="0"/>
                      </a:endParaRPr>
                    </a:p>
                  </a:txBody>
                  <a:tcPr/>
                </a:tc>
                <a:tc>
                  <a:txBody>
                    <a:bodyPr/>
                    <a:lstStyle/>
                    <a:p>
                      <a:endParaRPr lang="en-IN" sz="3200" dirty="0">
                        <a:latin typeface="Times New Roman" pitchFamily="18" charset="0"/>
                        <a:cs typeface="Times New Roman" pitchFamily="18" charset="0"/>
                      </a:endParaRPr>
                    </a:p>
                  </a:txBody>
                  <a:tcPr/>
                </a:tc>
              </a:tr>
              <a:tr h="1919813">
                <a:tc>
                  <a:txBody>
                    <a:bodyPr/>
                    <a:lstStyle/>
                    <a:p>
                      <a:r>
                        <a:rPr lang="en-US" sz="2000" dirty="0" smtClean="0">
                          <a:latin typeface="Times New Roman" pitchFamily="18" charset="0"/>
                          <a:cs typeface="Times New Roman" pitchFamily="18" charset="0"/>
                        </a:rPr>
                        <a:t>1</a:t>
                      </a:r>
                      <a:endParaRPr lang="en-IN" sz="20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latin typeface="Times New Roman" pitchFamily="18" charset="0"/>
                          <a:cs typeface="Times New Roman" pitchFamily="18" charset="0"/>
                        </a:rPr>
                        <a:t>Prediction of Diabetes Based on Personal Lifestyle Indicators.</a:t>
                      </a:r>
                      <a:endParaRPr lang="en-IN" sz="2400" dirty="0" smtClean="0">
                        <a:latin typeface="Times New Roman" pitchFamily="18" charset="0"/>
                        <a:cs typeface="Times New Roman" pitchFamily="18" charset="0"/>
                      </a:endParaRPr>
                    </a:p>
                    <a:p>
                      <a:endParaRPr lang="en-IN" dirty="0">
                        <a:latin typeface="Times New Roman" pitchFamily="18" charset="0"/>
                        <a:cs typeface="Times New Roman" pitchFamily="18" charset="0"/>
                      </a:endParaRPr>
                    </a:p>
                  </a:txBody>
                  <a:tcPr/>
                </a:tc>
                <a:tc>
                  <a:txBody>
                    <a:bodyPr/>
                    <a:lstStyle/>
                    <a:p>
                      <a:r>
                        <a:rPr lang="en-US" sz="2400" dirty="0" err="1" smtClean="0">
                          <a:latin typeface="Times New Roman" pitchFamily="18" charset="0"/>
                          <a:cs typeface="Times New Roman" pitchFamily="18" charset="0"/>
                        </a:rPr>
                        <a:t>Ayush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Anand</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Divya</a:t>
                      </a:r>
                      <a:r>
                        <a:rPr lang="en-US" sz="2400" dirty="0" smtClean="0">
                          <a:latin typeface="Times New Roman" pitchFamily="18" charset="0"/>
                          <a:cs typeface="Times New Roman" pitchFamily="18" charset="0"/>
                        </a:rPr>
                        <a:t> Shakti</a:t>
                      </a:r>
                      <a:endParaRPr lang="en-IN" sz="2400" dirty="0">
                        <a:latin typeface="Times New Roman" pitchFamily="18" charset="0"/>
                        <a:cs typeface="Times New Roman" pitchFamily="18" charset="0"/>
                      </a:endParaRPr>
                    </a:p>
                  </a:txBody>
                  <a:tcPr/>
                </a:tc>
                <a:tc>
                  <a:txBody>
                    <a:bodyPr/>
                    <a:lstStyle/>
                    <a:p>
                      <a:r>
                        <a:rPr lang="en-IN" sz="2800" dirty="0" smtClean="0">
                          <a:latin typeface="Times New Roman" pitchFamily="18" charset="0"/>
                          <a:cs typeface="Times New Roman" pitchFamily="18" charset="0"/>
                        </a:rPr>
                        <a:t>September 2015.</a:t>
                      </a:r>
                      <a:endParaRPr lang="en-IN" sz="28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 Naïve Bayes and</a:t>
                      </a:r>
                      <a:r>
                        <a:rPr lang="en-US" sz="2400" baseline="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Decision Trees were used in this model. Comparison was made form</a:t>
                      </a:r>
                      <a:r>
                        <a:rPr lang="en-US" sz="2400" baseline="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performance of both algorithms and</a:t>
                      </a:r>
                      <a:r>
                        <a:rPr lang="en-US" sz="2400" baseline="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effectiveness of both algorithms was shown as a result</a:t>
                      </a:r>
                      <a:endParaRPr lang="en-IN" sz="2400" dirty="0">
                        <a:latin typeface="Times New Roman" pitchFamily="18" charset="0"/>
                        <a:cs typeface="Times New Roman" pitchFamily="18" charset="0"/>
                      </a:endParaRPr>
                    </a:p>
                  </a:txBody>
                  <a:tcPr/>
                </a:tc>
              </a:tr>
              <a:tr h="2057400">
                <a:tc>
                  <a:txBody>
                    <a:bodyPr/>
                    <a:lstStyle/>
                    <a:p>
                      <a:r>
                        <a:rPr lang="en-US" sz="2400" dirty="0" smtClean="0">
                          <a:latin typeface="Times New Roman" pitchFamily="18" charset="0"/>
                          <a:cs typeface="Times New Roman" pitchFamily="18" charset="0"/>
                        </a:rPr>
                        <a:t>2</a:t>
                      </a:r>
                      <a:endParaRPr lang="en-IN"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Application of machine learning in disease</a:t>
                      </a:r>
                    </a:p>
                    <a:p>
                      <a:r>
                        <a:rPr lang="en-US" sz="2400" dirty="0" smtClean="0">
                          <a:latin typeface="Times New Roman" pitchFamily="18" charset="0"/>
                          <a:cs typeface="Times New Roman" pitchFamily="18" charset="0"/>
                        </a:rPr>
                        <a:t>Prediction.</a:t>
                      </a:r>
                      <a:endParaRPr lang="en-IN"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P. S. </a:t>
                      </a:r>
                      <a:r>
                        <a:rPr lang="en-US" sz="2400" dirty="0" err="1" smtClean="0">
                          <a:latin typeface="Times New Roman" pitchFamily="18" charset="0"/>
                          <a:cs typeface="Times New Roman" pitchFamily="18" charset="0"/>
                        </a:rPr>
                        <a:t>Kohli</a:t>
                      </a:r>
                      <a:r>
                        <a:rPr lang="en-US" sz="2400" dirty="0" smtClean="0">
                          <a:latin typeface="Times New Roman" pitchFamily="18" charset="0"/>
                          <a:cs typeface="Times New Roman" pitchFamily="18" charset="0"/>
                        </a:rPr>
                        <a:t> and S. </a:t>
                      </a:r>
                      <a:r>
                        <a:rPr lang="en-US" sz="2400" dirty="0" err="1" smtClean="0">
                          <a:latin typeface="Times New Roman" pitchFamily="18" charset="0"/>
                          <a:cs typeface="Times New Roman" pitchFamily="18" charset="0"/>
                        </a:rPr>
                        <a:t>Arora</a:t>
                      </a:r>
                      <a:r>
                        <a:rPr lang="en-US" sz="2400" dirty="0" smtClean="0">
                          <a:latin typeface="Times New Roman" pitchFamily="18" charset="0"/>
                          <a:cs typeface="Times New Roman" pitchFamily="18" charset="0"/>
                        </a:rPr>
                        <a:t>,</a:t>
                      </a:r>
                      <a:endParaRPr lang="en-IN" sz="2400"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2018</a:t>
                      </a:r>
                      <a:endParaRPr lang="en-IN" dirty="0">
                        <a:latin typeface="Times New Roman" pitchFamily="18" charset="0"/>
                        <a:cs typeface="Times New Roman" pitchFamily="18" charset="0"/>
                      </a:endParaRPr>
                    </a:p>
                  </a:txBody>
                  <a:tcPr/>
                </a:tc>
                <a:tc>
                  <a:txBody>
                    <a:bodyPr/>
                    <a:lstStyle/>
                    <a:p>
                      <a:pPr algn="just"/>
                      <a:r>
                        <a:rPr lang="en-US" sz="2400" dirty="0" smtClean="0">
                          <a:latin typeface="Times New Roman" pitchFamily="18" charset="0"/>
                          <a:cs typeface="Times New Roman" pitchFamily="18" charset="0"/>
                        </a:rPr>
                        <a:t>used a diverse genera of machine</a:t>
                      </a:r>
                      <a:r>
                        <a:rPr lang="en-US" sz="2400" baseline="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learning algorithms like support vector machine, random</a:t>
                      </a:r>
                      <a:r>
                        <a:rPr lang="en-US" sz="2400" baseline="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forest, logistic regression, Decision tree and many more</a:t>
                      </a:r>
                      <a:r>
                        <a:rPr lang="en-US" sz="2400" baseline="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and various types of disease dataset to show the applicability of Machine Learning in disease prediction and</a:t>
                      </a:r>
                      <a:r>
                        <a:rPr lang="en-US" sz="2400" baseline="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analysis.</a:t>
                      </a:r>
                      <a:endParaRPr lang="en-IN" sz="2400" dirty="0">
                        <a:latin typeface="Times New Roman" pitchFamily="18" charset="0"/>
                        <a:cs typeface="Times New Roman" pitchFamily="18" charset="0"/>
                      </a:endParaRPr>
                    </a:p>
                  </a:txBody>
                  <a:tcPr/>
                </a:tc>
              </a:tr>
              <a:tr h="1134207">
                <a:tc>
                  <a:txBody>
                    <a:bodyPr/>
                    <a:lstStyle/>
                    <a:p>
                      <a:r>
                        <a:rPr lang="en-US" sz="2400" dirty="0" smtClean="0">
                          <a:latin typeface="Times New Roman" pitchFamily="18" charset="0"/>
                          <a:cs typeface="Times New Roman" pitchFamily="18" charset="0"/>
                        </a:rPr>
                        <a:t>3</a:t>
                      </a:r>
                      <a:endParaRPr lang="en-IN"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Application of Data Mining Methods and Techniques for Diabetes Diagnosis.</a:t>
                      </a:r>
                      <a:endParaRPr lang="en-IN"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K. Rajesh and V. </a:t>
                      </a:r>
                      <a:r>
                        <a:rPr lang="en-US" sz="2400" dirty="0" err="1" smtClean="0">
                          <a:latin typeface="Times New Roman" pitchFamily="18" charset="0"/>
                          <a:cs typeface="Times New Roman" pitchFamily="18" charset="0"/>
                        </a:rPr>
                        <a:t>Sangeetha</a:t>
                      </a:r>
                      <a:endParaRPr lang="en-IN" sz="2400"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September 2012</a:t>
                      </a:r>
                      <a:endParaRPr lang="en-IN" sz="2400"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They used C4.5 decision tree</a:t>
                      </a:r>
                      <a:r>
                        <a:rPr lang="en-US" sz="2400" baseline="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algorithm to find hidden patterns from the dataset for classifying</a:t>
                      </a:r>
                    </a:p>
                    <a:p>
                      <a:r>
                        <a:rPr lang="en-US" sz="2400" dirty="0" smtClean="0">
                          <a:latin typeface="Times New Roman" pitchFamily="18" charset="0"/>
                          <a:cs typeface="Times New Roman" pitchFamily="18" charset="0"/>
                        </a:rPr>
                        <a:t>efficiently.</a:t>
                      </a:r>
                      <a:endParaRPr lang="en-IN" sz="2400" dirty="0">
                        <a:latin typeface="Times New Roman" pitchFamily="18" charset="0"/>
                        <a:cs typeface="Times New Roman" pitchFamily="18" charset="0"/>
                      </a:endParaRPr>
                    </a:p>
                  </a:txBody>
                  <a:tcPr/>
                </a:tc>
              </a:tr>
              <a:tr h="1878372">
                <a:tc>
                  <a:txBody>
                    <a:bodyPr/>
                    <a:lstStyle/>
                    <a:p>
                      <a:r>
                        <a:rPr lang="en-US" sz="2400" dirty="0" smtClean="0">
                          <a:latin typeface="Times New Roman" pitchFamily="18" charset="0"/>
                          <a:cs typeface="Times New Roman" pitchFamily="18" charset="0"/>
                        </a:rPr>
                        <a:t>4</a:t>
                      </a:r>
                      <a:endParaRPr lang="en-IN"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A Data Mining Approach for the Diagnosis of Diabetes Mellitus using Random Forest Classifier.</a:t>
                      </a:r>
                      <a:endParaRPr lang="en-IN" sz="2400"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Mani </a:t>
                      </a:r>
                      <a:r>
                        <a:rPr lang="en-US" sz="2400" dirty="0" err="1" smtClean="0">
                          <a:latin typeface="Times New Roman" pitchFamily="18" charset="0"/>
                          <a:cs typeface="Times New Roman" pitchFamily="18" charset="0"/>
                        </a:rPr>
                        <a:t>Butwall</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Shraddha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Kuma</a:t>
                      </a:r>
                      <a:endParaRPr lang="en-IN"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Number 8,2015</a:t>
                      </a:r>
                      <a:r>
                        <a:rPr lang="en-IN"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a:txBody>
                  <a:tcPr/>
                </a:tc>
                <a:tc>
                  <a:txBody>
                    <a:bodyPr/>
                    <a:lstStyle/>
                    <a:p>
                      <a:r>
                        <a:rPr lang="en-US" sz="2400" dirty="0" smtClean="0">
                          <a:latin typeface="Times New Roman" pitchFamily="18" charset="0"/>
                          <a:cs typeface="Times New Roman" pitchFamily="18" charset="0"/>
                        </a:rPr>
                        <a:t>model using Random Forest</a:t>
                      </a:r>
                    </a:p>
                    <a:p>
                      <a:r>
                        <a:rPr lang="en-US" sz="2400" dirty="0" smtClean="0">
                          <a:latin typeface="Times New Roman" pitchFamily="18" charset="0"/>
                          <a:cs typeface="Times New Roman" pitchFamily="18" charset="0"/>
                        </a:rPr>
                        <a:t>Classifier to forecast diabetes </a:t>
                      </a:r>
                      <a:r>
                        <a:rPr lang="en-US" sz="2400" dirty="0" err="1" smtClean="0">
                          <a:latin typeface="Times New Roman" pitchFamily="18" charset="0"/>
                          <a:cs typeface="Times New Roman" pitchFamily="18" charset="0"/>
                        </a:rPr>
                        <a:t>behaviour</a:t>
                      </a:r>
                      <a:r>
                        <a:rPr lang="en-US"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a:txBody>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752599" y="0"/>
            <a:ext cx="7238999" cy="7407771"/>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7" name="Freeform 7"/>
          <p:cNvSpPr/>
          <p:nvPr/>
        </p:nvSpPr>
        <p:spPr>
          <a:xfrm>
            <a:off x="10411095" y="2452589"/>
            <a:ext cx="7876905" cy="7726439"/>
          </a:xfrm>
          <a:custGeom>
            <a:avLst/>
            <a:gdLst/>
            <a:ahLst/>
            <a:cxnLst/>
            <a:rect l="l" t="t" r="r" b="b"/>
            <a:pathLst>
              <a:path w="7876905" h="7726439">
                <a:moveTo>
                  <a:pt x="0" y="0"/>
                </a:moveTo>
                <a:lnTo>
                  <a:pt x="7876905" y="0"/>
                </a:lnTo>
                <a:lnTo>
                  <a:pt x="7876905" y="7726438"/>
                </a:lnTo>
                <a:lnTo>
                  <a:pt x="0" y="7726438"/>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9" name="Group 9"/>
          <p:cNvGrpSpPr/>
          <p:nvPr/>
        </p:nvGrpSpPr>
        <p:grpSpPr>
          <a:xfrm>
            <a:off x="751777" y="1898833"/>
            <a:ext cx="16535400" cy="8280195"/>
            <a:chOff x="0" y="0"/>
            <a:chExt cx="812800" cy="1181928"/>
          </a:xfrm>
        </p:grpSpPr>
        <p:sp>
          <p:nvSpPr>
            <p:cNvPr id="10" name="Freeform 10"/>
            <p:cNvSpPr/>
            <p:nvPr/>
          </p:nvSpPr>
          <p:spPr>
            <a:xfrm>
              <a:off x="0" y="0"/>
              <a:ext cx="812800" cy="1181927"/>
            </a:xfrm>
            <a:custGeom>
              <a:avLst/>
              <a:gdLst/>
              <a:ahLst/>
              <a:cxnLst/>
              <a:rect l="l" t="t" r="r" b="b"/>
              <a:pathLst>
                <a:path w="812800" h="1181927">
                  <a:moveTo>
                    <a:pt x="0" y="0"/>
                  </a:moveTo>
                  <a:lnTo>
                    <a:pt x="812800" y="0"/>
                  </a:lnTo>
                  <a:lnTo>
                    <a:pt x="812800" y="1181927"/>
                  </a:lnTo>
                  <a:lnTo>
                    <a:pt x="0" y="1181927"/>
                  </a:lnTo>
                  <a:close/>
                </a:path>
              </a:pathLst>
            </a:custGeom>
            <a:solidFill>
              <a:srgbClr val="E9EAF6"/>
            </a:solidFill>
          </p:spPr>
        </p:sp>
        <p:sp>
          <p:nvSpPr>
            <p:cNvPr id="11" name="TextBox 11"/>
            <p:cNvSpPr txBox="1"/>
            <p:nvPr/>
          </p:nvSpPr>
          <p:spPr>
            <a:xfrm>
              <a:off x="0" y="-38100"/>
              <a:ext cx="812800" cy="1220028"/>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rot="-1257881">
            <a:off x="-993796" y="1824531"/>
            <a:ext cx="3549762" cy="3440042"/>
          </a:xfrm>
          <a:custGeom>
            <a:avLst/>
            <a:gdLst/>
            <a:ahLst/>
            <a:cxnLst/>
            <a:rect l="l" t="t" r="r" b="b"/>
            <a:pathLst>
              <a:path w="3549762" h="3440042">
                <a:moveTo>
                  <a:pt x="0" y="0"/>
                </a:moveTo>
                <a:lnTo>
                  <a:pt x="3549762" y="0"/>
                </a:lnTo>
                <a:lnTo>
                  <a:pt x="3549762" y="3440042"/>
                </a:lnTo>
                <a:lnTo>
                  <a:pt x="0" y="3440042"/>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17" name="TextBox 17"/>
          <p:cNvSpPr txBox="1"/>
          <p:nvPr/>
        </p:nvSpPr>
        <p:spPr>
          <a:xfrm>
            <a:off x="2580575" y="642071"/>
            <a:ext cx="10820401" cy="2379690"/>
          </a:xfrm>
          <a:prstGeom prst="rect">
            <a:avLst/>
          </a:prstGeom>
        </p:spPr>
        <p:txBody>
          <a:bodyPr wrap="square" lIns="0" tIns="0" rIns="0" bIns="0" rtlCol="0" anchor="t">
            <a:spAutoFit/>
          </a:bodyPr>
          <a:lstStyle/>
          <a:p>
            <a:pPr algn="r">
              <a:lnSpc>
                <a:spcPts val="9799"/>
              </a:lnSpc>
            </a:pPr>
            <a:r>
              <a:rPr lang="en-US" sz="6000" b="1" u="sng" dirty="0">
                <a:solidFill>
                  <a:schemeClr val="dk1"/>
                </a:solidFill>
                <a:latin typeface="Times New Roman" panose="02020603050405020304" pitchFamily="18" charset="0"/>
                <a:ea typeface="Algerian"/>
                <a:cs typeface="Times New Roman" panose="02020603050405020304" pitchFamily="18" charset="0"/>
                <a:sym typeface="Algerian"/>
              </a:rPr>
              <a:t>PROBLEM STATEMENT</a:t>
            </a:r>
            <a:endParaRPr lang="en-US" sz="6000" b="1" dirty="0">
              <a:latin typeface="Times New Roman" panose="02020603050405020304" pitchFamily="18" charset="0"/>
              <a:cs typeface="Times New Roman" panose="02020603050405020304" pitchFamily="18" charset="0"/>
            </a:endParaRPr>
          </a:p>
          <a:p>
            <a:pPr algn="r">
              <a:lnSpc>
                <a:spcPts val="9799"/>
              </a:lnSpc>
            </a:pPr>
            <a:endParaRPr lang="en-US" sz="6000" b="1" dirty="0">
              <a:solidFill>
                <a:srgbClr val="222366"/>
              </a:solidFill>
              <a:latin typeface="Times New Roman" panose="02020603050405020304" pitchFamily="18" charset="0"/>
              <a:ea typeface="Brick Sans"/>
              <a:cs typeface="Times New Roman" panose="02020603050405020304" pitchFamily="18" charset="0"/>
              <a:sym typeface="Brick Sans"/>
            </a:endParaRPr>
          </a:p>
        </p:txBody>
      </p:sp>
      <p:sp>
        <p:nvSpPr>
          <p:cNvPr id="18" name="Rectangle 17"/>
          <p:cNvSpPr/>
          <p:nvPr/>
        </p:nvSpPr>
        <p:spPr>
          <a:xfrm>
            <a:off x="2411332" y="3056669"/>
            <a:ext cx="13216289" cy="5016758"/>
          </a:xfrm>
          <a:prstGeom prst="rect">
            <a:avLst/>
          </a:prstGeom>
        </p:spPr>
        <p:txBody>
          <a:bodyPr wrap="square">
            <a:spAutoFit/>
          </a:bodyPr>
          <a:lstStyle/>
          <a:p>
            <a:pPr algn="just"/>
            <a:r>
              <a:rPr lang="en-US" sz="3200" dirty="0">
                <a:latin typeface="Times New Roman" panose="02020603050405020304" pitchFamily="18" charset="0"/>
                <a:cs typeface="Times New Roman" panose="02020603050405020304" pitchFamily="18" charset="0"/>
              </a:rPr>
              <a:t>The problem is the lack of accessible, efficient, and accurate methods for early diabetes detection. Early diagnosis is crucial, yet many people either remain undiagnosed or receive a diagnosis too late. Despite the potential benefits of ML in healthcare, there is a need to develop and implement accurate, efficient, and scalable machine learning models for early detection and diagnosis of diabetes. These models must be able to process diverse and complex data, including medical history, lifestyle factors, lab test results, and genetic information, to provide a reliable diagnosis. Current practice in hospital is to collect required information for diabetes diagnosis through various tests and appropriate treatment is provided based on diagnosis.</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802A648A-0A45-A446-5311-2FCFF8986701}"/>
              </a:ext>
            </a:extLst>
          </p:cNvPr>
          <p:cNvSpPr/>
          <p:nvPr/>
        </p:nvSpPr>
        <p:spPr>
          <a:xfrm>
            <a:off x="5588872" y="486804"/>
            <a:ext cx="5971443" cy="830997"/>
          </a:xfrm>
          <a:prstGeom prst="rect">
            <a:avLst/>
          </a:prstGeom>
        </p:spPr>
        <p:txBody>
          <a:bodyPr wrap="none">
            <a:spAutoFit/>
          </a:bodyPr>
          <a:lstStyle/>
          <a:p>
            <a:r>
              <a:rPr lang="en-US" sz="4800" b="1" u="sng" dirty="0">
                <a:latin typeface="Times New Roman" panose="02020603050405020304" pitchFamily="18" charset="0"/>
                <a:cs typeface="Times New Roman" panose="02020603050405020304" pitchFamily="18" charset="0"/>
              </a:rPr>
              <a:t>IMPLEMENTATION</a:t>
            </a:r>
            <a:endParaRPr lang="en-IN" sz="4800" b="1" u="sng" dirty="0">
              <a:latin typeface="Times New Roman" panose="02020603050405020304" pitchFamily="18" charset="0"/>
              <a:cs typeface="Times New Roman" panose="02020603050405020304" pitchFamily="18" charset="0"/>
            </a:endParaRPr>
          </a:p>
        </p:txBody>
      </p:sp>
      <p:sp>
        <p:nvSpPr>
          <p:cNvPr id="4" name="Freeform 2">
            <a:extLst>
              <a:ext uri="{FF2B5EF4-FFF2-40B4-BE49-F238E27FC236}">
                <a16:creationId xmlns="" xmlns:a16="http://schemas.microsoft.com/office/drawing/2014/main" id="{3F580CA4-691E-ACB9-BBF3-FE690A26B654}"/>
              </a:ext>
            </a:extLst>
          </p:cNvPr>
          <p:cNvSpPr/>
          <p:nvPr/>
        </p:nvSpPr>
        <p:spPr>
          <a:xfrm>
            <a:off x="14706600" y="1638300"/>
            <a:ext cx="6934200" cy="8156075"/>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 name="Freeform 2">
            <a:extLst>
              <a:ext uri="{FF2B5EF4-FFF2-40B4-BE49-F238E27FC236}">
                <a16:creationId xmlns="" xmlns:a16="http://schemas.microsoft.com/office/drawing/2014/main" id="{70E29AF6-FF19-2628-1B14-FCDE7CC4A5C7}"/>
              </a:ext>
            </a:extLst>
          </p:cNvPr>
          <p:cNvSpPr/>
          <p:nvPr/>
        </p:nvSpPr>
        <p:spPr>
          <a:xfrm rot="9530862">
            <a:off x="-5119719" y="1656198"/>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6" name="Freeform 9">
            <a:extLst>
              <a:ext uri="{FF2B5EF4-FFF2-40B4-BE49-F238E27FC236}">
                <a16:creationId xmlns="" xmlns:a16="http://schemas.microsoft.com/office/drawing/2014/main" id="{02A3721B-8C38-E701-5C22-8C5FFFA692D8}"/>
              </a:ext>
            </a:extLst>
          </p:cNvPr>
          <p:cNvSpPr/>
          <p:nvPr/>
        </p:nvSpPr>
        <p:spPr>
          <a:xfrm rot="-1248570">
            <a:off x="37821" y="-600876"/>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7" name="Freeform 12">
            <a:extLst>
              <a:ext uri="{FF2B5EF4-FFF2-40B4-BE49-F238E27FC236}">
                <a16:creationId xmlns="" xmlns:a16="http://schemas.microsoft.com/office/drawing/2014/main" id="{64A24E48-5B83-965D-E7C1-70C47A24D245}"/>
              </a:ext>
            </a:extLst>
          </p:cNvPr>
          <p:cNvSpPr/>
          <p:nvPr/>
        </p:nvSpPr>
        <p:spPr>
          <a:xfrm rot="-1257881">
            <a:off x="15509315" y="6503716"/>
            <a:ext cx="3549762" cy="3440042"/>
          </a:xfrm>
          <a:custGeom>
            <a:avLst/>
            <a:gdLst/>
            <a:ahLst/>
            <a:cxnLst/>
            <a:rect l="l" t="t" r="r" b="b"/>
            <a:pathLst>
              <a:path w="3549762" h="3440042">
                <a:moveTo>
                  <a:pt x="0" y="0"/>
                </a:moveTo>
                <a:lnTo>
                  <a:pt x="3549762" y="0"/>
                </a:lnTo>
                <a:lnTo>
                  <a:pt x="3549762" y="3440042"/>
                </a:lnTo>
                <a:lnTo>
                  <a:pt x="0" y="3440042"/>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3" name="Rectangle 2"/>
          <p:cNvSpPr/>
          <p:nvPr/>
        </p:nvSpPr>
        <p:spPr>
          <a:xfrm>
            <a:off x="3444075" y="1621971"/>
            <a:ext cx="10809847" cy="8156079"/>
          </a:xfrm>
          <a:prstGeom prst="rect">
            <a:avLst/>
          </a:prstGeom>
        </p:spPr>
        <p:txBody>
          <a:bodyPr wrap="square">
            <a:spAutoFit/>
          </a:bodyPr>
          <a:lstStyle/>
          <a:p>
            <a:pPr lvl="1"/>
            <a:r>
              <a:rPr lang="en-US" sz="2800" b="1" dirty="0" smtClean="0">
                <a:latin typeface="Times New Roman" panose="02020603050405020304" pitchFamily="18" charset="0"/>
                <a:cs typeface="Times New Roman" panose="02020603050405020304" pitchFamily="18" charset="0"/>
              </a:rPr>
              <a:t>Data Collection Dataset:</a:t>
            </a:r>
          </a:p>
          <a:p>
            <a:pPr lvl="1"/>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Use the PIMA Indian Diabetes Dataset or similar</a:t>
            </a:r>
            <a:r>
              <a:rPr lang="en-US" sz="2400" dirty="0" smtClean="0">
                <a:latin typeface="Times New Roman" panose="02020603050405020304" pitchFamily="18" charset="0"/>
                <a:cs typeface="Times New Roman" panose="02020603050405020304" pitchFamily="18" charset="0"/>
              </a:rPr>
              <a:t>.</a:t>
            </a:r>
          </a:p>
          <a:p>
            <a:pPr lvl="1"/>
            <a:r>
              <a:rPr lang="en-US" sz="2400" dirty="0" smtClean="0">
                <a:latin typeface="Times New Roman" panose="02020603050405020304" pitchFamily="18" charset="0"/>
                <a:cs typeface="Times New Roman" panose="02020603050405020304" pitchFamily="18" charset="0"/>
              </a:rPr>
              <a:t>       Features</a:t>
            </a:r>
            <a:r>
              <a:rPr lang="en-US" sz="2400" dirty="0">
                <a:latin typeface="Times New Roman" panose="02020603050405020304" pitchFamily="18" charset="0"/>
                <a:cs typeface="Times New Roman" panose="02020603050405020304" pitchFamily="18" charset="0"/>
              </a:rPr>
              <a:t>: Include glucose </a:t>
            </a:r>
            <a:r>
              <a:rPr lang="en-US" sz="2400" dirty="0" smtClean="0">
                <a:latin typeface="Times New Roman" panose="02020603050405020304" pitchFamily="18" charset="0"/>
                <a:cs typeface="Times New Roman" panose="02020603050405020304" pitchFamily="18" charset="0"/>
              </a:rPr>
              <a:t>level</a:t>
            </a:r>
            <a:r>
              <a:rPr lang="en-US" sz="2400" dirty="0">
                <a:latin typeface="Times New Roman" panose="02020603050405020304" pitchFamily="18" charset="0"/>
                <a:cs typeface="Times New Roman" panose="02020603050405020304" pitchFamily="18" charset="0"/>
              </a:rPr>
              <a:t>, BMI, age, blood </a:t>
            </a:r>
            <a:r>
              <a:rPr lang="en-US" sz="2400" dirty="0" smtClean="0">
                <a:latin typeface="Times New Roman" panose="02020603050405020304" pitchFamily="18" charset="0"/>
                <a:cs typeface="Times New Roman" panose="02020603050405020304" pitchFamily="18" charset="0"/>
              </a:rPr>
              <a:t>pressure</a:t>
            </a:r>
          </a:p>
          <a:p>
            <a:pPr lvl="1"/>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lvl="1"/>
            <a:r>
              <a:rPr lang="en-US" sz="2800" b="1" dirty="0">
                <a:latin typeface="Times New Roman" panose="02020603050405020304" pitchFamily="18" charset="0"/>
                <a:cs typeface="Times New Roman" panose="02020603050405020304" pitchFamily="18" charset="0"/>
              </a:rPr>
              <a:t>Data </a:t>
            </a:r>
            <a:r>
              <a:rPr lang="en-US" sz="2800" b="1" dirty="0" smtClean="0">
                <a:latin typeface="Times New Roman" panose="02020603050405020304" pitchFamily="18" charset="0"/>
                <a:cs typeface="Times New Roman" panose="02020603050405020304" pitchFamily="18" charset="0"/>
              </a:rPr>
              <a:t>Preprocessing:</a:t>
            </a:r>
          </a:p>
          <a:p>
            <a:pPr lvl="1"/>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Handle </a:t>
            </a:r>
            <a:r>
              <a:rPr lang="en-US" sz="2400" dirty="0">
                <a:latin typeface="Times New Roman" panose="02020603050405020304" pitchFamily="18" charset="0"/>
                <a:cs typeface="Times New Roman" panose="02020603050405020304" pitchFamily="18" charset="0"/>
              </a:rPr>
              <a:t>missing values with imputation</a:t>
            </a:r>
            <a:r>
              <a:rPr lang="en-US" sz="2400" dirty="0" smtClean="0">
                <a:latin typeface="Times New Roman" panose="02020603050405020304" pitchFamily="18" charset="0"/>
                <a:cs typeface="Times New Roman" panose="02020603050405020304" pitchFamily="18" charset="0"/>
              </a:rPr>
              <a:t>. Normalize </a:t>
            </a:r>
            <a:r>
              <a:rPr lang="en-US" sz="2400" dirty="0">
                <a:latin typeface="Times New Roman" panose="02020603050405020304" pitchFamily="18" charset="0"/>
                <a:cs typeface="Times New Roman" panose="02020603050405020304" pitchFamily="18" charset="0"/>
              </a:rPr>
              <a:t>numerical features</a:t>
            </a:r>
            <a:r>
              <a:rPr lang="en-US" sz="2400" dirty="0" smtClean="0">
                <a:latin typeface="Times New Roman" panose="02020603050405020304" pitchFamily="18" charset="0"/>
                <a:cs typeface="Times New Roman" panose="02020603050405020304" pitchFamily="18" charset="0"/>
              </a:rPr>
              <a:t>.</a:t>
            </a:r>
          </a:p>
          <a:p>
            <a:pPr lvl="1"/>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Perform Exploratory </a:t>
            </a:r>
            <a:r>
              <a:rPr lang="en-US" sz="2400" dirty="0">
                <a:latin typeface="Times New Roman" panose="02020603050405020304" pitchFamily="18" charset="0"/>
                <a:cs typeface="Times New Roman" panose="02020603050405020304" pitchFamily="18" charset="0"/>
              </a:rPr>
              <a:t>Data Analysis (EDA) to understand data distribution and </a:t>
            </a:r>
            <a:r>
              <a:rPr lang="en-US" sz="2400" dirty="0" smtClean="0">
                <a:latin typeface="Times New Roman" panose="02020603050405020304" pitchFamily="18" charset="0"/>
                <a:cs typeface="Times New Roman" panose="02020603050405020304" pitchFamily="18" charset="0"/>
              </a:rPr>
              <a:t>	relationships.</a:t>
            </a:r>
          </a:p>
          <a:p>
            <a:pPr lvl="1"/>
            <a:endParaRPr lang="en-US" sz="2400" dirty="0" smtClean="0">
              <a:latin typeface="Times New Roman" panose="02020603050405020304" pitchFamily="18" charset="0"/>
              <a:cs typeface="Times New Roman" panose="02020603050405020304" pitchFamily="18" charset="0"/>
            </a:endParaRPr>
          </a:p>
          <a:p>
            <a:pPr lvl="1"/>
            <a:r>
              <a:rPr lang="en-US" sz="2800" b="1" dirty="0">
                <a:latin typeface="Times New Roman" panose="02020603050405020304" pitchFamily="18" charset="0"/>
                <a:cs typeface="Times New Roman" panose="02020603050405020304" pitchFamily="18" charset="0"/>
              </a:rPr>
              <a:t>Model </a:t>
            </a:r>
            <a:r>
              <a:rPr lang="en-US" sz="2800" b="1" dirty="0" smtClean="0">
                <a:latin typeface="Times New Roman" panose="02020603050405020304" pitchFamily="18" charset="0"/>
                <a:cs typeface="Times New Roman" panose="02020603050405020304" pitchFamily="18" charset="0"/>
              </a:rPr>
              <a:t>Selection:</a:t>
            </a:r>
          </a:p>
          <a:p>
            <a:pPr lvl="1"/>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Evaluate </a:t>
            </a:r>
            <a:r>
              <a:rPr lang="en-US" sz="2400" dirty="0">
                <a:latin typeface="Times New Roman" panose="02020603050405020304" pitchFamily="18" charset="0"/>
                <a:cs typeface="Times New Roman" panose="02020603050405020304" pitchFamily="18" charset="0"/>
              </a:rPr>
              <a:t>the following machine learning models</a:t>
            </a:r>
            <a:r>
              <a:rPr lang="en-US" sz="2400" dirty="0" smtClean="0">
                <a:latin typeface="Times New Roman" panose="02020603050405020304" pitchFamily="18" charset="0"/>
                <a:cs typeface="Times New Roman" panose="02020603050405020304" pitchFamily="18" charset="0"/>
              </a:rPr>
              <a:t>:</a:t>
            </a:r>
          </a:p>
          <a:p>
            <a:pPr lvl="1"/>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Logistic Regression ,Decision Trees Random Forest ,Support </a:t>
            </a:r>
            <a:r>
              <a:rPr lang="en-US" sz="2400" dirty="0">
                <a:latin typeface="Times New Roman" panose="02020603050405020304" pitchFamily="18" charset="0"/>
                <a:cs typeface="Times New Roman" panose="02020603050405020304" pitchFamily="18" charset="0"/>
              </a:rPr>
              <a:t>Vector Machines </a:t>
            </a:r>
            <a:r>
              <a:rPr lang="en-US" sz="2400" dirty="0" smtClean="0">
                <a:latin typeface="Times New Roman" panose="02020603050405020304" pitchFamily="18" charset="0"/>
                <a:cs typeface="Times New Roman" panose="02020603050405020304" pitchFamily="18" charset="0"/>
              </a:rPr>
              <a:t>  </a:t>
            </a:r>
          </a:p>
          <a:p>
            <a:pPr lvl="1"/>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SVM)Neural Networks for </a:t>
            </a:r>
            <a:r>
              <a:rPr lang="en-US" sz="2400" dirty="0" smtClean="0">
                <a:latin typeface="Times New Roman" panose="02020603050405020304" pitchFamily="18" charset="0"/>
                <a:cs typeface="Times New Roman" panose="02020603050405020304" pitchFamily="18" charset="0"/>
              </a:rPr>
              <a:t>advanced </a:t>
            </a:r>
            <a:r>
              <a:rPr lang="en-US" sz="2400" dirty="0">
                <a:latin typeface="Times New Roman" panose="02020603050405020304" pitchFamily="18" charset="0"/>
                <a:cs typeface="Times New Roman" panose="02020603050405020304" pitchFamily="18" charset="0"/>
              </a:rPr>
              <a:t>use cases</a:t>
            </a:r>
            <a:r>
              <a:rPr lang="en-US" sz="2400" dirty="0" smtClean="0">
                <a:latin typeface="Times New Roman" panose="02020603050405020304" pitchFamily="18" charset="0"/>
                <a:cs typeface="Times New Roman" panose="02020603050405020304" pitchFamily="18" charset="0"/>
              </a:rPr>
              <a:t>.</a:t>
            </a:r>
          </a:p>
          <a:p>
            <a:pPr lvl="1"/>
            <a:endParaRPr lang="en-US" sz="2400" dirty="0" smtClean="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Model Training and </a:t>
            </a:r>
            <a:r>
              <a:rPr lang="en-US" sz="2800" b="1" dirty="0" smtClean="0">
                <a:latin typeface="Times New Roman" panose="02020603050405020304" pitchFamily="18" charset="0"/>
                <a:cs typeface="Times New Roman" panose="02020603050405020304" pitchFamily="18" charset="0"/>
              </a:rPr>
              <a:t>Testing:</a:t>
            </a:r>
          </a:p>
          <a:p>
            <a:pPr lvl="1"/>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Split </a:t>
            </a:r>
            <a:r>
              <a:rPr lang="en-US" sz="2400" dirty="0">
                <a:latin typeface="Times New Roman" panose="02020603050405020304" pitchFamily="18" charset="0"/>
                <a:cs typeface="Times New Roman" panose="02020603050405020304" pitchFamily="18" charset="0"/>
              </a:rPr>
              <a:t>data into training and testing sets (e.g., 80%-20%).Evaluate models using </a:t>
            </a:r>
            <a:r>
              <a:rPr lang="en-US" sz="2400" dirty="0" smtClean="0">
                <a:latin typeface="Times New Roman" panose="02020603050405020304" pitchFamily="18" charset="0"/>
                <a:cs typeface="Times New Roman" panose="02020603050405020304" pitchFamily="18" charset="0"/>
              </a:rPr>
              <a:t>	metrics </a:t>
            </a:r>
            <a:r>
              <a:rPr lang="en-US" sz="2400" dirty="0">
                <a:latin typeface="Times New Roman" panose="02020603050405020304" pitchFamily="18" charset="0"/>
                <a:cs typeface="Times New Roman" panose="02020603050405020304" pitchFamily="18" charset="0"/>
              </a:rPr>
              <a:t>like accuracy, precision, recall, and AUC-ROC score</a:t>
            </a:r>
            <a:r>
              <a:rPr lang="en-US" sz="2400" dirty="0" smtClean="0">
                <a:latin typeface="Times New Roman" panose="02020603050405020304" pitchFamily="18" charset="0"/>
                <a:cs typeface="Times New Roman" panose="02020603050405020304" pitchFamily="18" charset="0"/>
              </a:rPr>
              <a:t>.</a:t>
            </a:r>
          </a:p>
          <a:p>
            <a:pPr lvl="1"/>
            <a:endParaRPr lang="en-IN" sz="2400" dirty="0" smtClean="0">
              <a:latin typeface="Times New Roman" panose="02020603050405020304" pitchFamily="18" charset="0"/>
              <a:cs typeface="Times New Roman" panose="02020603050405020304" pitchFamily="18" charset="0"/>
            </a:endParaRPr>
          </a:p>
          <a:p>
            <a:pPr lvl="1"/>
            <a:r>
              <a:rPr lang="en-IN" sz="2800" b="1" dirty="0" smtClean="0">
                <a:latin typeface="Times New Roman" panose="02020603050405020304" pitchFamily="18" charset="0"/>
                <a:cs typeface="Times New Roman" panose="02020603050405020304" pitchFamily="18" charset="0"/>
              </a:rPr>
              <a:t>Deployment:</a:t>
            </a:r>
          </a:p>
          <a:p>
            <a:pPr lvl="1"/>
            <a:r>
              <a:rPr lang="en-IN" sz="2400" dirty="0" smtClean="0">
                <a:latin typeface="Times New Roman" panose="02020603050405020304" pitchFamily="18" charset="0"/>
                <a:cs typeface="Times New Roman" panose="02020603050405020304" pitchFamily="18" charset="0"/>
              </a:rPr>
              <a:t>Use </a:t>
            </a:r>
            <a:r>
              <a:rPr lang="en-IN" sz="2400" dirty="0">
                <a:latin typeface="Times New Roman" panose="02020603050405020304" pitchFamily="18" charset="0"/>
                <a:cs typeface="Times New Roman" panose="02020603050405020304" pitchFamily="18" charset="0"/>
              </a:rPr>
              <a:t>Flask or </a:t>
            </a:r>
            <a:r>
              <a:rPr lang="en-IN" sz="2400" dirty="0" err="1" smtClean="0">
                <a:latin typeface="Times New Roman" panose="02020603050405020304" pitchFamily="18" charset="0"/>
                <a:cs typeface="Times New Roman" panose="02020603050405020304" pitchFamily="18" charset="0"/>
              </a:rPr>
              <a:t>Streamit</a:t>
            </a:r>
            <a:r>
              <a:rPr lang="en-IN" sz="2400" dirty="0" smtClean="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to build a web </a:t>
            </a:r>
            <a:r>
              <a:rPr lang="en-IN" sz="2400" dirty="0" smtClean="0">
                <a:latin typeface="Times New Roman" panose="02020603050405020304" pitchFamily="18" charset="0"/>
                <a:cs typeface="Times New Roman" panose="02020603050405020304" pitchFamily="18" charset="0"/>
              </a:rPr>
              <a:t>interface </a:t>
            </a:r>
          </a:p>
          <a:p>
            <a:pPr lvl="1"/>
            <a:r>
              <a:rPr lang="en-IN" sz="2400" dirty="0" smtClean="0">
                <a:latin typeface="Times New Roman" panose="02020603050405020304" pitchFamily="18" charset="0"/>
                <a:cs typeface="Times New Roman" panose="02020603050405020304" pitchFamily="18" charset="0"/>
              </a:rPr>
              <a:t>Deploy </a:t>
            </a:r>
            <a:r>
              <a:rPr lang="en-IN" sz="2400" dirty="0">
                <a:latin typeface="Times New Roman" panose="02020603050405020304" pitchFamily="18" charset="0"/>
                <a:cs typeface="Times New Roman" panose="02020603050405020304" pitchFamily="18" charset="0"/>
              </a:rPr>
              <a:t>on </a:t>
            </a:r>
            <a:r>
              <a:rPr lang="en-IN" sz="2400" dirty="0" err="1" smtClean="0">
                <a:latin typeface="Times New Roman" panose="02020603050405020304" pitchFamily="18" charset="0"/>
                <a:cs typeface="Times New Roman" panose="02020603050405020304" pitchFamily="18" charset="0"/>
              </a:rPr>
              <a:t>Heroku</a:t>
            </a:r>
            <a:r>
              <a:rPr lang="en-IN" sz="2400" dirty="0" smtClean="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AWS, or Google Cloud.</a:t>
            </a:r>
            <a:endParaRPr lang="en-IN"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1510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6637454" y="1839336"/>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flipH="1">
            <a:off x="-4961399" y="1040440"/>
            <a:ext cx="7876905" cy="7726439"/>
          </a:xfrm>
          <a:custGeom>
            <a:avLst/>
            <a:gdLst/>
            <a:ahLst/>
            <a:cxnLst/>
            <a:rect l="l" t="t" r="r" b="b"/>
            <a:pathLst>
              <a:path w="7876905" h="7726439">
                <a:moveTo>
                  <a:pt x="7876905" y="0"/>
                </a:moveTo>
                <a:lnTo>
                  <a:pt x="0" y="0"/>
                </a:lnTo>
                <a:lnTo>
                  <a:pt x="0" y="7726439"/>
                </a:lnTo>
                <a:lnTo>
                  <a:pt x="7876905" y="7726439"/>
                </a:lnTo>
                <a:lnTo>
                  <a:pt x="7876905"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4" name="Group 4"/>
          <p:cNvGrpSpPr/>
          <p:nvPr/>
        </p:nvGrpSpPr>
        <p:grpSpPr>
          <a:xfrm>
            <a:off x="1028700" y="414431"/>
            <a:ext cx="7082961" cy="3058022"/>
            <a:chOff x="0" y="0"/>
            <a:chExt cx="883555" cy="381469"/>
          </a:xfrm>
        </p:grpSpPr>
        <p:sp>
          <p:nvSpPr>
            <p:cNvPr id="5" name="Freeform 5"/>
            <p:cNvSpPr/>
            <p:nvPr/>
          </p:nvSpPr>
          <p:spPr>
            <a:xfrm>
              <a:off x="0" y="0"/>
              <a:ext cx="883555" cy="381469"/>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sp>
        <p:sp>
          <p:nvSpPr>
            <p:cNvPr id="6" name="TextBox 6"/>
            <p:cNvSpPr txBox="1"/>
            <p:nvPr/>
          </p:nvSpPr>
          <p:spPr>
            <a:xfrm>
              <a:off x="0" y="-38100"/>
              <a:ext cx="883555" cy="419569"/>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28700" y="3693909"/>
            <a:ext cx="7082961" cy="3058022"/>
            <a:chOff x="0" y="0"/>
            <a:chExt cx="883555" cy="381469"/>
          </a:xfrm>
        </p:grpSpPr>
        <p:sp>
          <p:nvSpPr>
            <p:cNvPr id="8" name="Freeform 8"/>
            <p:cNvSpPr/>
            <p:nvPr/>
          </p:nvSpPr>
          <p:spPr>
            <a:xfrm>
              <a:off x="0" y="0"/>
              <a:ext cx="883555" cy="381469"/>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sp>
        <p:sp>
          <p:nvSpPr>
            <p:cNvPr id="9" name="TextBox 9"/>
            <p:cNvSpPr txBox="1"/>
            <p:nvPr/>
          </p:nvSpPr>
          <p:spPr>
            <a:xfrm>
              <a:off x="0" y="-38100"/>
              <a:ext cx="883555" cy="419569"/>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28700" y="6973387"/>
            <a:ext cx="7082961" cy="3058022"/>
            <a:chOff x="0" y="0"/>
            <a:chExt cx="883555" cy="381469"/>
          </a:xfrm>
        </p:grpSpPr>
        <p:sp>
          <p:nvSpPr>
            <p:cNvPr id="11" name="Freeform 11"/>
            <p:cNvSpPr/>
            <p:nvPr/>
          </p:nvSpPr>
          <p:spPr>
            <a:xfrm>
              <a:off x="0" y="0"/>
              <a:ext cx="883555" cy="381469"/>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sp>
        <p:sp>
          <p:nvSpPr>
            <p:cNvPr id="12" name="TextBox 12"/>
            <p:cNvSpPr txBox="1"/>
            <p:nvPr/>
          </p:nvSpPr>
          <p:spPr>
            <a:xfrm>
              <a:off x="0" y="-38100"/>
              <a:ext cx="883555" cy="419569"/>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flipH="1">
            <a:off x="8690379" y="4903660"/>
            <a:ext cx="4752275" cy="6304842"/>
          </a:xfrm>
          <a:custGeom>
            <a:avLst/>
            <a:gdLst/>
            <a:ahLst/>
            <a:cxnLst/>
            <a:rect l="l" t="t" r="r" b="b"/>
            <a:pathLst>
              <a:path w="4752275" h="6304842">
                <a:moveTo>
                  <a:pt x="4752275" y="0"/>
                </a:moveTo>
                <a:lnTo>
                  <a:pt x="0" y="0"/>
                </a:lnTo>
                <a:lnTo>
                  <a:pt x="0" y="6304842"/>
                </a:lnTo>
                <a:lnTo>
                  <a:pt x="4752275" y="6304842"/>
                </a:lnTo>
                <a:lnTo>
                  <a:pt x="4752275"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14" name="Freeform 14"/>
          <p:cNvSpPr/>
          <p:nvPr/>
        </p:nvSpPr>
        <p:spPr>
          <a:xfrm rot="-1248570">
            <a:off x="14319081" y="6764744"/>
            <a:ext cx="2099363" cy="2991320"/>
          </a:xfrm>
          <a:custGeom>
            <a:avLst/>
            <a:gdLst/>
            <a:ahLst/>
            <a:cxnLst/>
            <a:rect l="l" t="t" r="r" b="b"/>
            <a:pathLst>
              <a:path w="2099363" h="2991320">
                <a:moveTo>
                  <a:pt x="0" y="0"/>
                </a:moveTo>
                <a:lnTo>
                  <a:pt x="2099363" y="0"/>
                </a:lnTo>
                <a:lnTo>
                  <a:pt x="2099363" y="2991320"/>
                </a:lnTo>
                <a:lnTo>
                  <a:pt x="0" y="2991320"/>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5" name="Freeform 15"/>
          <p:cNvSpPr/>
          <p:nvPr/>
        </p:nvSpPr>
        <p:spPr>
          <a:xfrm rot="-137149">
            <a:off x="16001738" y="5585294"/>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6" name="Freeform 16"/>
          <p:cNvSpPr/>
          <p:nvPr/>
        </p:nvSpPr>
        <p:spPr>
          <a:xfrm rot="855077">
            <a:off x="-761394" y="5781721"/>
            <a:ext cx="2066999" cy="2383332"/>
          </a:xfrm>
          <a:custGeom>
            <a:avLst/>
            <a:gdLst/>
            <a:ahLst/>
            <a:cxnLst/>
            <a:rect l="l" t="t" r="r" b="b"/>
            <a:pathLst>
              <a:path w="2066999" h="2383332">
                <a:moveTo>
                  <a:pt x="0" y="0"/>
                </a:moveTo>
                <a:lnTo>
                  <a:pt x="2066999" y="0"/>
                </a:lnTo>
                <a:lnTo>
                  <a:pt x="2066999" y="2383332"/>
                </a:lnTo>
                <a:lnTo>
                  <a:pt x="0" y="2383332"/>
                </a:lnTo>
                <a:lnTo>
                  <a:pt x="0" y="0"/>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17" name="TextBox 17"/>
          <p:cNvSpPr txBox="1"/>
          <p:nvPr/>
        </p:nvSpPr>
        <p:spPr>
          <a:xfrm>
            <a:off x="1689650" y="822915"/>
            <a:ext cx="5761060" cy="2215991"/>
          </a:xfrm>
          <a:prstGeom prst="rect">
            <a:avLst/>
          </a:prstGeom>
        </p:spPr>
        <p:txBody>
          <a:bodyPr lIns="0" tIns="0" rIns="0" bIns="0" rtlCol="0" anchor="t">
            <a:spAutoFit/>
          </a:bodyPr>
          <a:lstStyle/>
          <a:p>
            <a:r>
              <a:rPr lang="en-US" sz="3200" b="1" u="sng" dirty="0"/>
              <a:t>Early Detection and Prevention:</a:t>
            </a:r>
          </a:p>
          <a:p>
            <a:r>
              <a:rPr lang="en-US" sz="2800" dirty="0"/>
              <a:t>To proactively identify individuals who are at high risk of developing diabetes based on their medical history, lifestyle factors, and genetic predispositions.</a:t>
            </a:r>
            <a:endParaRPr lang="en-US" sz="2499" dirty="0">
              <a:solidFill>
                <a:srgbClr val="222366"/>
              </a:solidFill>
              <a:latin typeface="Public Sans"/>
              <a:ea typeface="Public Sans"/>
              <a:cs typeface="Public Sans"/>
              <a:sym typeface="Public Sans"/>
            </a:endParaRPr>
          </a:p>
        </p:txBody>
      </p:sp>
      <p:sp>
        <p:nvSpPr>
          <p:cNvPr id="18" name="TextBox 18"/>
          <p:cNvSpPr txBox="1"/>
          <p:nvPr/>
        </p:nvSpPr>
        <p:spPr>
          <a:xfrm>
            <a:off x="1689650" y="4110753"/>
            <a:ext cx="5761060" cy="2244204"/>
          </a:xfrm>
          <a:prstGeom prst="rect">
            <a:avLst/>
          </a:prstGeom>
        </p:spPr>
        <p:txBody>
          <a:bodyPr lIns="0" tIns="0" rIns="0" bIns="0" rtlCol="0" anchor="t">
            <a:spAutoFit/>
          </a:bodyPr>
          <a:lstStyle/>
          <a:p>
            <a:pPr>
              <a:lnSpc>
                <a:spcPts val="3499"/>
              </a:lnSpc>
            </a:pPr>
            <a:r>
              <a:rPr lang="en-IN" sz="3200" b="1" u="sng" dirty="0">
                <a:latin typeface="Times New Roman" panose="02020603050405020304" pitchFamily="18" charset="0"/>
                <a:cs typeface="Times New Roman" panose="02020603050405020304" pitchFamily="18" charset="0"/>
              </a:rPr>
              <a:t>Improved Diagnosis Accuracy:</a:t>
            </a:r>
          </a:p>
          <a:p>
            <a:pPr>
              <a:lnSpc>
                <a:spcPts val="3499"/>
              </a:lnSpc>
            </a:pPr>
            <a:r>
              <a:rPr lang="en-US" sz="2800" dirty="0"/>
              <a:t>To improve the accuracy of diabetes diagnosis by analyzing a wide range of medical data, including patient history, lab results, and imaging scans.</a:t>
            </a:r>
            <a:endParaRPr lang="en-US" sz="2499" b="1" u="sng" dirty="0">
              <a:solidFill>
                <a:srgbClr val="222366"/>
              </a:solidFill>
              <a:latin typeface="Times New Roman" panose="02020603050405020304" pitchFamily="18" charset="0"/>
              <a:ea typeface="Public Sans"/>
              <a:cs typeface="Times New Roman" panose="02020603050405020304" pitchFamily="18" charset="0"/>
              <a:sym typeface="Public Sans"/>
            </a:endParaRPr>
          </a:p>
        </p:txBody>
      </p:sp>
      <p:sp>
        <p:nvSpPr>
          <p:cNvPr id="19" name="TextBox 19"/>
          <p:cNvSpPr txBox="1"/>
          <p:nvPr/>
        </p:nvSpPr>
        <p:spPr>
          <a:xfrm>
            <a:off x="1689650" y="7412486"/>
            <a:ext cx="5761060" cy="2244204"/>
          </a:xfrm>
          <a:prstGeom prst="rect">
            <a:avLst/>
          </a:prstGeom>
        </p:spPr>
        <p:txBody>
          <a:bodyPr lIns="0" tIns="0" rIns="0" bIns="0" rtlCol="0" anchor="t">
            <a:spAutoFit/>
          </a:bodyPr>
          <a:lstStyle/>
          <a:p>
            <a:pPr>
              <a:lnSpc>
                <a:spcPts val="3499"/>
              </a:lnSpc>
            </a:pPr>
            <a:r>
              <a:rPr lang="en-IN" sz="3200" b="1" u="sng" dirty="0"/>
              <a:t>Advance Medical Research:</a:t>
            </a:r>
          </a:p>
          <a:p>
            <a:pPr>
              <a:lnSpc>
                <a:spcPts val="3499"/>
              </a:lnSpc>
            </a:pPr>
            <a:r>
              <a:rPr lang="en-US" sz="2800" dirty="0"/>
              <a:t>To uncover new insights into the underlying mechanisms of diabetes and identify potential novel therapeutic targets.</a:t>
            </a:r>
            <a:endParaRPr lang="en-US" sz="2499" b="1" u="sng" dirty="0">
              <a:solidFill>
                <a:srgbClr val="222366"/>
              </a:solidFill>
              <a:latin typeface="Public Sans"/>
              <a:ea typeface="Public Sans"/>
              <a:cs typeface="Public Sans"/>
              <a:sym typeface="Public Sans"/>
            </a:endParaRPr>
          </a:p>
        </p:txBody>
      </p:sp>
      <p:sp>
        <p:nvSpPr>
          <p:cNvPr id="20" name="TextBox 20"/>
          <p:cNvSpPr txBox="1"/>
          <p:nvPr/>
        </p:nvSpPr>
        <p:spPr>
          <a:xfrm>
            <a:off x="10163308" y="2233856"/>
            <a:ext cx="6258486" cy="2237600"/>
          </a:xfrm>
          <a:prstGeom prst="rect">
            <a:avLst/>
          </a:prstGeom>
        </p:spPr>
        <p:txBody>
          <a:bodyPr wrap="square" lIns="0" tIns="0" rIns="0" bIns="0" rtlCol="0" anchor="t">
            <a:spAutoFit/>
          </a:bodyPr>
          <a:lstStyle/>
          <a:p>
            <a:pPr algn="r">
              <a:lnSpc>
                <a:spcPts val="9100"/>
              </a:lnSpc>
            </a:pPr>
            <a:r>
              <a:rPr lang="en-US" sz="6600" b="1" u="sng" dirty="0">
                <a:latin typeface="Times New Roman" panose="02020603050405020304" pitchFamily="18" charset="0"/>
                <a:ea typeface="Alice"/>
                <a:cs typeface="Times New Roman" panose="02020603050405020304" pitchFamily="18" charset="0"/>
                <a:sym typeface="Alice"/>
              </a:rPr>
              <a:t>OBJECTIVES</a:t>
            </a:r>
            <a:endParaRPr lang="en-US" sz="6600" b="1" u="sng" dirty="0">
              <a:latin typeface="Times New Roman" panose="02020603050405020304" pitchFamily="18" charset="0"/>
              <a:cs typeface="Times New Roman" panose="02020603050405020304" pitchFamily="18" charset="0"/>
            </a:endParaRPr>
          </a:p>
          <a:p>
            <a:pPr algn="r">
              <a:lnSpc>
                <a:spcPts val="9100"/>
              </a:lnSpc>
            </a:pPr>
            <a:endParaRPr lang="en-US" sz="6500" b="1" u="sng" dirty="0">
              <a:latin typeface="Times New Roman" panose="02020603050405020304" pitchFamily="18" charset="0"/>
              <a:ea typeface="Brick Sans"/>
              <a:cs typeface="Times New Roman" panose="02020603050405020304" pitchFamily="18" charset="0"/>
              <a:sym typeface="Brick Sans"/>
            </a:endParaRP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163445" y="-318668"/>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5222364" y="1808086"/>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4" name="Group 4"/>
          <p:cNvGrpSpPr/>
          <p:nvPr/>
        </p:nvGrpSpPr>
        <p:grpSpPr>
          <a:xfrm>
            <a:off x="1921247" y="3301022"/>
            <a:ext cx="7082961" cy="3058022"/>
            <a:chOff x="0" y="0"/>
            <a:chExt cx="883555" cy="381469"/>
          </a:xfrm>
        </p:grpSpPr>
        <p:sp>
          <p:nvSpPr>
            <p:cNvPr id="5" name="Freeform 5"/>
            <p:cNvSpPr/>
            <p:nvPr/>
          </p:nvSpPr>
          <p:spPr>
            <a:xfrm>
              <a:off x="0" y="0"/>
              <a:ext cx="883555" cy="381469"/>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sp>
        <p:sp>
          <p:nvSpPr>
            <p:cNvPr id="6" name="TextBox 6"/>
            <p:cNvSpPr txBox="1"/>
            <p:nvPr/>
          </p:nvSpPr>
          <p:spPr>
            <a:xfrm>
              <a:off x="0" y="-38100"/>
              <a:ext cx="883555" cy="419569"/>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921247" y="6827447"/>
            <a:ext cx="7082961" cy="3058022"/>
            <a:chOff x="0" y="0"/>
            <a:chExt cx="883555" cy="381469"/>
          </a:xfrm>
        </p:grpSpPr>
        <p:sp>
          <p:nvSpPr>
            <p:cNvPr id="8" name="Freeform 8"/>
            <p:cNvSpPr/>
            <p:nvPr/>
          </p:nvSpPr>
          <p:spPr>
            <a:xfrm>
              <a:off x="0" y="0"/>
              <a:ext cx="883555" cy="381469"/>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sp>
        <p:sp>
          <p:nvSpPr>
            <p:cNvPr id="9" name="TextBox 9"/>
            <p:cNvSpPr txBox="1"/>
            <p:nvPr/>
          </p:nvSpPr>
          <p:spPr>
            <a:xfrm>
              <a:off x="0" y="-38100"/>
              <a:ext cx="883555" cy="419569"/>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rot="-1793077">
            <a:off x="16507575" y="5105478"/>
            <a:ext cx="2859370" cy="3981402"/>
          </a:xfrm>
          <a:custGeom>
            <a:avLst/>
            <a:gdLst/>
            <a:ahLst/>
            <a:cxnLst/>
            <a:rect l="l" t="t" r="r" b="b"/>
            <a:pathLst>
              <a:path w="2859370" h="3981402">
                <a:moveTo>
                  <a:pt x="0" y="0"/>
                </a:moveTo>
                <a:lnTo>
                  <a:pt x="2859370" y="0"/>
                </a:lnTo>
                <a:lnTo>
                  <a:pt x="2859370" y="3981402"/>
                </a:lnTo>
                <a:lnTo>
                  <a:pt x="0" y="3981402"/>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11" name="Freeform 11"/>
          <p:cNvSpPr/>
          <p:nvPr/>
        </p:nvSpPr>
        <p:spPr>
          <a:xfrm rot="855077">
            <a:off x="-518506" y="5234288"/>
            <a:ext cx="2752419" cy="3173649"/>
          </a:xfrm>
          <a:custGeom>
            <a:avLst/>
            <a:gdLst/>
            <a:ahLst/>
            <a:cxnLst/>
            <a:rect l="l" t="t" r="r" b="b"/>
            <a:pathLst>
              <a:path w="2752419" h="3173649">
                <a:moveTo>
                  <a:pt x="0" y="0"/>
                </a:moveTo>
                <a:lnTo>
                  <a:pt x="2752419" y="0"/>
                </a:lnTo>
                <a:lnTo>
                  <a:pt x="2752419" y="3173649"/>
                </a:lnTo>
                <a:lnTo>
                  <a:pt x="0" y="3173649"/>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2" name="Freeform 12"/>
          <p:cNvSpPr/>
          <p:nvPr/>
        </p:nvSpPr>
        <p:spPr>
          <a:xfrm rot="-137149">
            <a:off x="17236257" y="260001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3" name="Freeform 13"/>
          <p:cNvSpPr/>
          <p:nvPr/>
        </p:nvSpPr>
        <p:spPr>
          <a:xfrm rot="-137149">
            <a:off x="885105" y="9285701"/>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grpSp>
        <p:nvGrpSpPr>
          <p:cNvPr id="14" name="Group 14"/>
          <p:cNvGrpSpPr/>
          <p:nvPr/>
        </p:nvGrpSpPr>
        <p:grpSpPr>
          <a:xfrm>
            <a:off x="9283792" y="3301022"/>
            <a:ext cx="7082961" cy="3058022"/>
            <a:chOff x="0" y="0"/>
            <a:chExt cx="883555" cy="381469"/>
          </a:xfrm>
        </p:grpSpPr>
        <p:sp>
          <p:nvSpPr>
            <p:cNvPr id="15" name="Freeform 15"/>
            <p:cNvSpPr/>
            <p:nvPr/>
          </p:nvSpPr>
          <p:spPr>
            <a:xfrm>
              <a:off x="0" y="0"/>
              <a:ext cx="883555" cy="381469"/>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sp>
        <p:sp>
          <p:nvSpPr>
            <p:cNvPr id="16" name="TextBox 16"/>
            <p:cNvSpPr txBox="1"/>
            <p:nvPr/>
          </p:nvSpPr>
          <p:spPr>
            <a:xfrm>
              <a:off x="0" y="-38100"/>
              <a:ext cx="883555" cy="419569"/>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9283792" y="6827447"/>
            <a:ext cx="7082961" cy="3058022"/>
            <a:chOff x="0" y="0"/>
            <a:chExt cx="883555" cy="381469"/>
          </a:xfrm>
        </p:grpSpPr>
        <p:sp>
          <p:nvSpPr>
            <p:cNvPr id="18" name="Freeform 18"/>
            <p:cNvSpPr/>
            <p:nvPr/>
          </p:nvSpPr>
          <p:spPr>
            <a:xfrm>
              <a:off x="0" y="0"/>
              <a:ext cx="883555" cy="381469"/>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sp>
        <p:sp>
          <p:nvSpPr>
            <p:cNvPr id="19" name="TextBox 19"/>
            <p:cNvSpPr txBox="1"/>
            <p:nvPr/>
          </p:nvSpPr>
          <p:spPr>
            <a:xfrm>
              <a:off x="0" y="-38100"/>
              <a:ext cx="883555" cy="419569"/>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3065636" y="2981332"/>
            <a:ext cx="4794184" cy="639381"/>
            <a:chOff x="0" y="0"/>
            <a:chExt cx="2860316" cy="381469"/>
          </a:xfrm>
        </p:grpSpPr>
        <p:sp>
          <p:nvSpPr>
            <p:cNvPr id="21" name="Freeform 21"/>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id="22" name="TextBox 22"/>
            <p:cNvSpPr txBox="1"/>
            <p:nvPr/>
          </p:nvSpPr>
          <p:spPr>
            <a:xfrm>
              <a:off x="0" y="-38100"/>
              <a:ext cx="2860316" cy="419569"/>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9969506" y="2912200"/>
            <a:ext cx="5665540" cy="639381"/>
            <a:chOff x="0" y="0"/>
            <a:chExt cx="2860316" cy="381469"/>
          </a:xfrm>
        </p:grpSpPr>
        <p:sp>
          <p:nvSpPr>
            <p:cNvPr id="24" name="Freeform 24"/>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id="25" name="TextBox 25"/>
            <p:cNvSpPr txBox="1"/>
            <p:nvPr/>
          </p:nvSpPr>
          <p:spPr>
            <a:xfrm>
              <a:off x="0" y="-38100"/>
              <a:ext cx="2860316" cy="419569"/>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3065636" y="6616219"/>
            <a:ext cx="4794184" cy="639381"/>
            <a:chOff x="0" y="0"/>
            <a:chExt cx="2860316" cy="381469"/>
          </a:xfrm>
        </p:grpSpPr>
        <p:sp>
          <p:nvSpPr>
            <p:cNvPr id="27" name="Freeform 27"/>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id="28" name="TextBox 28"/>
            <p:cNvSpPr txBox="1"/>
            <p:nvPr/>
          </p:nvSpPr>
          <p:spPr>
            <a:xfrm>
              <a:off x="0" y="-38100"/>
              <a:ext cx="2860316" cy="419569"/>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0428180" y="6616219"/>
            <a:ext cx="4794184" cy="639381"/>
            <a:chOff x="0" y="0"/>
            <a:chExt cx="2860316" cy="381469"/>
          </a:xfrm>
        </p:grpSpPr>
        <p:sp>
          <p:nvSpPr>
            <p:cNvPr id="30" name="Freeform 30"/>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id="31" name="TextBox 31"/>
            <p:cNvSpPr txBox="1"/>
            <p:nvPr/>
          </p:nvSpPr>
          <p:spPr>
            <a:xfrm>
              <a:off x="0" y="-38100"/>
              <a:ext cx="2860316" cy="419569"/>
            </a:xfrm>
            <a:prstGeom prst="rect">
              <a:avLst/>
            </a:prstGeom>
          </p:spPr>
          <p:txBody>
            <a:bodyPr lIns="50800" tIns="50800" rIns="50800" bIns="50800" rtlCol="0" anchor="ctr"/>
            <a:lstStyle/>
            <a:p>
              <a:pPr algn="ctr">
                <a:lnSpc>
                  <a:spcPts val="2659"/>
                </a:lnSpc>
              </a:pPr>
              <a:endParaRPr/>
            </a:p>
          </p:txBody>
        </p:sp>
      </p:grpSp>
      <p:sp>
        <p:nvSpPr>
          <p:cNvPr id="33" name="TextBox 33"/>
          <p:cNvSpPr txBox="1"/>
          <p:nvPr/>
        </p:nvSpPr>
        <p:spPr>
          <a:xfrm>
            <a:off x="9944742" y="3823806"/>
            <a:ext cx="5761060" cy="1795363"/>
          </a:xfrm>
          <a:prstGeom prst="rect">
            <a:avLst/>
          </a:prstGeom>
        </p:spPr>
        <p:txBody>
          <a:bodyPr lIns="0" tIns="0" rIns="0" bIns="0" rtlCol="0" anchor="t">
            <a:spAutoFit/>
          </a:bodyPr>
          <a:lstStyle/>
          <a:p>
            <a:pPr algn="ctr">
              <a:lnSpc>
                <a:spcPts val="3499"/>
              </a:lnSpc>
            </a:pPr>
            <a:r>
              <a:rPr lang="en-US" sz="2800" dirty="0">
                <a:latin typeface="Times New Roman" panose="02020603050405020304" pitchFamily="18" charset="0"/>
                <a:cs typeface="Times New Roman" panose="02020603050405020304" pitchFamily="18" charset="0"/>
              </a:rPr>
              <a:t>AI-based tools could be deployed in remote and underserved areas, making diabetes detection and management more accessible and cost-effective</a:t>
            </a:r>
            <a:r>
              <a:rPr lang="en-US" sz="2800" dirty="0">
                <a:solidFill>
                  <a:srgbClr val="222366"/>
                </a:solidFill>
                <a:latin typeface="Times New Roman" panose="02020603050405020304" pitchFamily="18" charset="0"/>
                <a:ea typeface="Public Sans"/>
                <a:cs typeface="Times New Roman" panose="02020603050405020304" pitchFamily="18" charset="0"/>
                <a:sym typeface="Public Sans"/>
              </a:rPr>
              <a:t>. </a:t>
            </a:r>
          </a:p>
        </p:txBody>
      </p:sp>
      <p:sp>
        <p:nvSpPr>
          <p:cNvPr id="34" name="TextBox 34"/>
          <p:cNvSpPr txBox="1"/>
          <p:nvPr/>
        </p:nvSpPr>
        <p:spPr>
          <a:xfrm>
            <a:off x="2582198" y="7420766"/>
            <a:ext cx="5761060" cy="1795363"/>
          </a:xfrm>
          <a:prstGeom prst="rect">
            <a:avLst/>
          </a:prstGeom>
        </p:spPr>
        <p:txBody>
          <a:bodyPr lIns="0" tIns="0" rIns="0" bIns="0" rtlCol="0" anchor="t">
            <a:spAutoFit/>
          </a:bodyPr>
          <a:lstStyle/>
          <a:p>
            <a:pPr algn="ctr">
              <a:lnSpc>
                <a:spcPts val="3499"/>
              </a:lnSpc>
            </a:pPr>
            <a:r>
              <a:rPr lang="en-US" sz="2800" dirty="0">
                <a:latin typeface="Times New Roman" panose="02020603050405020304" pitchFamily="18" charset="0"/>
                <a:cs typeface="Times New Roman" panose="02020603050405020304" pitchFamily="18" charset="0"/>
              </a:rPr>
              <a:t>AI can help tailor treatment plans based on individual risk factors and medical histories, leading to more personalized and effective care.</a:t>
            </a:r>
            <a:endParaRPr lang="en-US" sz="2499" dirty="0">
              <a:solidFill>
                <a:srgbClr val="222366"/>
              </a:solidFill>
              <a:latin typeface="Times New Roman" panose="02020603050405020304" pitchFamily="18" charset="0"/>
              <a:ea typeface="Public Sans"/>
              <a:cs typeface="Times New Roman" panose="02020603050405020304" pitchFamily="18" charset="0"/>
              <a:sym typeface="Public Sans"/>
            </a:endParaRPr>
          </a:p>
        </p:txBody>
      </p:sp>
      <p:sp>
        <p:nvSpPr>
          <p:cNvPr id="35" name="TextBox 35"/>
          <p:cNvSpPr txBox="1"/>
          <p:nvPr/>
        </p:nvSpPr>
        <p:spPr>
          <a:xfrm>
            <a:off x="9944742" y="7350621"/>
            <a:ext cx="5761060" cy="2224135"/>
          </a:xfrm>
          <a:prstGeom prst="rect">
            <a:avLst/>
          </a:prstGeom>
        </p:spPr>
        <p:txBody>
          <a:bodyPr lIns="0" tIns="0" rIns="0" bIns="0" rtlCol="0" anchor="t">
            <a:spAutoFit/>
          </a:bodyPr>
          <a:lstStyle/>
          <a:p>
            <a:pPr algn="ctr">
              <a:lnSpc>
                <a:spcPts val="3499"/>
              </a:lnSpc>
            </a:pPr>
            <a:r>
              <a:rPr lang="en-US" sz="2800" dirty="0"/>
              <a:t>By reducing the need for expensive diagnostic tests and hospital visits, and by preventing complications, AI-powered diabetes detection can help reduce long-term healthcare costs.</a:t>
            </a:r>
            <a:endParaRPr lang="en-US" sz="2499" dirty="0">
              <a:solidFill>
                <a:srgbClr val="222366"/>
              </a:solidFill>
              <a:latin typeface="Public Sans"/>
              <a:ea typeface="Public Sans"/>
              <a:cs typeface="Public Sans"/>
              <a:sym typeface="Public Sans"/>
            </a:endParaRPr>
          </a:p>
        </p:txBody>
      </p:sp>
      <p:sp>
        <p:nvSpPr>
          <p:cNvPr id="36" name="TextBox 36"/>
          <p:cNvSpPr txBox="1"/>
          <p:nvPr/>
        </p:nvSpPr>
        <p:spPr>
          <a:xfrm>
            <a:off x="3113286" y="3005797"/>
            <a:ext cx="4940485" cy="500137"/>
          </a:xfrm>
          <a:prstGeom prst="rect">
            <a:avLst/>
          </a:prstGeom>
        </p:spPr>
        <p:txBody>
          <a:bodyPr wrap="square" lIns="0" tIns="0" rIns="0" bIns="0" rtlCol="0" anchor="t">
            <a:spAutoFit/>
          </a:bodyPr>
          <a:lstStyle/>
          <a:p>
            <a:pPr algn="ctr">
              <a:lnSpc>
                <a:spcPts val="3919"/>
              </a:lnSpc>
            </a:pPr>
            <a:r>
              <a:rPr lang="en-IN" sz="3200" b="1" dirty="0">
                <a:latin typeface="Times New Roman" panose="02020603050405020304" pitchFamily="18" charset="0"/>
                <a:cs typeface="Times New Roman" panose="02020603050405020304" pitchFamily="18" charset="0"/>
              </a:rPr>
              <a:t>Improved Early Detection</a:t>
            </a:r>
            <a:endParaRPr lang="en-US" sz="2800" b="1" dirty="0">
              <a:solidFill>
                <a:srgbClr val="222366"/>
              </a:solidFill>
              <a:latin typeface="Times New Roman" panose="02020603050405020304" pitchFamily="18" charset="0"/>
              <a:ea typeface="Public Sans Bold"/>
              <a:cs typeface="Times New Roman" panose="02020603050405020304" pitchFamily="18" charset="0"/>
              <a:sym typeface="Public Sans Bold"/>
            </a:endParaRPr>
          </a:p>
        </p:txBody>
      </p:sp>
      <p:sp>
        <p:nvSpPr>
          <p:cNvPr id="37" name="TextBox 37"/>
          <p:cNvSpPr txBox="1"/>
          <p:nvPr/>
        </p:nvSpPr>
        <p:spPr>
          <a:xfrm>
            <a:off x="9963937" y="3005796"/>
            <a:ext cx="5705478" cy="500137"/>
          </a:xfrm>
          <a:prstGeom prst="rect">
            <a:avLst/>
          </a:prstGeom>
        </p:spPr>
        <p:txBody>
          <a:bodyPr wrap="square" lIns="0" tIns="0" rIns="0" bIns="0" rtlCol="0" anchor="t">
            <a:spAutoFit/>
          </a:bodyPr>
          <a:lstStyle/>
          <a:p>
            <a:pPr algn="ctr">
              <a:lnSpc>
                <a:spcPts val="3919"/>
              </a:lnSpc>
            </a:pPr>
            <a:r>
              <a:rPr lang="en-IN" sz="3200" b="1" dirty="0">
                <a:latin typeface="Times New Roman" panose="02020603050405020304" pitchFamily="18" charset="0"/>
                <a:cs typeface="Times New Roman" panose="02020603050405020304" pitchFamily="18" charset="0"/>
              </a:rPr>
              <a:t>Increased Access to Healthcare</a:t>
            </a:r>
            <a:endParaRPr lang="en-US" sz="2800" b="1" dirty="0">
              <a:solidFill>
                <a:srgbClr val="222366"/>
              </a:solidFill>
              <a:latin typeface="Times New Roman" panose="02020603050405020304" pitchFamily="18" charset="0"/>
              <a:ea typeface="Public Sans Bold"/>
              <a:cs typeface="Times New Roman" panose="02020603050405020304" pitchFamily="18" charset="0"/>
              <a:sym typeface="Public Sans Bold"/>
            </a:endParaRPr>
          </a:p>
        </p:txBody>
      </p:sp>
      <p:sp>
        <p:nvSpPr>
          <p:cNvPr id="38" name="TextBox 38"/>
          <p:cNvSpPr txBox="1"/>
          <p:nvPr/>
        </p:nvSpPr>
        <p:spPr>
          <a:xfrm>
            <a:off x="3196947" y="6640685"/>
            <a:ext cx="4514368" cy="471283"/>
          </a:xfrm>
          <a:prstGeom prst="rect">
            <a:avLst/>
          </a:prstGeom>
        </p:spPr>
        <p:txBody>
          <a:bodyPr lIns="0" tIns="0" rIns="0" bIns="0" rtlCol="0" anchor="t">
            <a:spAutoFit/>
          </a:bodyPr>
          <a:lstStyle/>
          <a:p>
            <a:pPr algn="ctr">
              <a:lnSpc>
                <a:spcPts val="3919"/>
              </a:lnSpc>
            </a:pPr>
            <a:r>
              <a:rPr lang="en-IN" sz="3200" b="1" dirty="0">
                <a:latin typeface="Times New Roman" panose="02020603050405020304" pitchFamily="18" charset="0"/>
                <a:cs typeface="Times New Roman" panose="02020603050405020304" pitchFamily="18" charset="0"/>
              </a:rPr>
              <a:t>Personalized Healthcare</a:t>
            </a:r>
            <a:endParaRPr lang="en-US" sz="2800" b="1" dirty="0">
              <a:solidFill>
                <a:srgbClr val="222366"/>
              </a:solidFill>
              <a:latin typeface="Times New Roman" panose="02020603050405020304" pitchFamily="18" charset="0"/>
              <a:ea typeface="Public Sans Bold"/>
              <a:cs typeface="Times New Roman" panose="02020603050405020304" pitchFamily="18" charset="0"/>
              <a:sym typeface="Public Sans Bold"/>
            </a:endParaRPr>
          </a:p>
        </p:txBody>
      </p:sp>
      <p:sp>
        <p:nvSpPr>
          <p:cNvPr id="39" name="TextBox 39"/>
          <p:cNvSpPr txBox="1"/>
          <p:nvPr/>
        </p:nvSpPr>
        <p:spPr>
          <a:xfrm>
            <a:off x="10354044" y="6616218"/>
            <a:ext cx="4942456" cy="500137"/>
          </a:xfrm>
          <a:prstGeom prst="rect">
            <a:avLst/>
          </a:prstGeom>
        </p:spPr>
        <p:txBody>
          <a:bodyPr wrap="square" lIns="0" tIns="0" rIns="0" bIns="0" rtlCol="0" anchor="t">
            <a:spAutoFit/>
          </a:bodyPr>
          <a:lstStyle/>
          <a:p>
            <a:pPr algn="ctr">
              <a:lnSpc>
                <a:spcPts val="3919"/>
              </a:lnSpc>
            </a:pPr>
            <a:r>
              <a:rPr lang="en-IN" sz="3200" b="1" dirty="0">
                <a:latin typeface="Times New Roman" panose="02020603050405020304" pitchFamily="18" charset="0"/>
                <a:cs typeface="Times New Roman" panose="02020603050405020304" pitchFamily="18" charset="0"/>
              </a:rPr>
              <a:t>Healthcare Cost Reduction</a:t>
            </a:r>
            <a:endParaRPr lang="en-US" sz="2800" b="1" dirty="0">
              <a:solidFill>
                <a:srgbClr val="222366"/>
              </a:solidFill>
              <a:latin typeface="Times New Roman" panose="02020603050405020304" pitchFamily="18" charset="0"/>
              <a:ea typeface="Public Sans Bold"/>
              <a:cs typeface="Times New Roman" panose="02020603050405020304" pitchFamily="18" charset="0"/>
              <a:sym typeface="Public Sans Bold"/>
            </a:endParaRPr>
          </a:p>
        </p:txBody>
      </p:sp>
      <p:sp>
        <p:nvSpPr>
          <p:cNvPr id="40" name="TextBox 40"/>
          <p:cNvSpPr txBox="1"/>
          <p:nvPr/>
        </p:nvSpPr>
        <p:spPr>
          <a:xfrm>
            <a:off x="1622613" y="762493"/>
            <a:ext cx="14763189" cy="1128514"/>
          </a:xfrm>
          <a:prstGeom prst="rect">
            <a:avLst/>
          </a:prstGeom>
        </p:spPr>
        <p:txBody>
          <a:bodyPr lIns="0" tIns="0" rIns="0" bIns="0" rtlCol="0" anchor="t">
            <a:spAutoFit/>
          </a:bodyPr>
          <a:lstStyle/>
          <a:p>
            <a:pPr algn="ctr">
              <a:lnSpc>
                <a:spcPts val="8819"/>
              </a:lnSpc>
            </a:pPr>
            <a:r>
              <a:rPr lang="en-IN" sz="6600" b="1" u="sng" dirty="0">
                <a:latin typeface="Times New Roman" panose="02020603050405020304" pitchFamily="18" charset="0"/>
                <a:cs typeface="Times New Roman" panose="02020603050405020304" pitchFamily="18" charset="0"/>
              </a:rPr>
              <a:t>Scope and Impact Of Project:</a:t>
            </a:r>
            <a:endParaRPr lang="en-US" sz="6300" b="1" u="sng" dirty="0">
              <a:solidFill>
                <a:srgbClr val="222366"/>
              </a:solidFill>
              <a:latin typeface="Times New Roman" panose="02020603050405020304" pitchFamily="18" charset="0"/>
              <a:ea typeface="Brick Sans"/>
              <a:cs typeface="Times New Roman" panose="02020603050405020304" pitchFamily="18" charset="0"/>
              <a:sym typeface="Brick Sans"/>
            </a:endParaRPr>
          </a:p>
        </p:txBody>
      </p:sp>
      <p:sp>
        <p:nvSpPr>
          <p:cNvPr id="41" name="Rectangle 40"/>
          <p:cNvSpPr/>
          <p:nvPr/>
        </p:nvSpPr>
        <p:spPr>
          <a:xfrm>
            <a:off x="2398407" y="3781021"/>
            <a:ext cx="6553090" cy="2246769"/>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The system would enable the identification of diabetes risk in its early stages, even before patients develop noticeable symptoms, leading to preventive measures and reduced progression to diabetes.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14" name="Rectangle 13"/>
          <p:cNvSpPr/>
          <p:nvPr/>
        </p:nvSpPr>
        <p:spPr>
          <a:xfrm>
            <a:off x="5029200" y="533000"/>
            <a:ext cx="7302127" cy="1067600"/>
          </a:xfrm>
          <a:prstGeom prst="rect">
            <a:avLst/>
          </a:prstGeom>
        </p:spPr>
        <p:txBody>
          <a:bodyPr wrap="none">
            <a:spAutoFit/>
          </a:bodyPr>
          <a:lstStyle/>
          <a:p>
            <a:pPr lvl="0">
              <a:lnSpc>
                <a:spcPct val="150000"/>
              </a:lnSpc>
              <a:buClr>
                <a:schemeClr val="dk1"/>
              </a:buClr>
              <a:buSzPts val="3200"/>
            </a:pPr>
            <a:r>
              <a:rPr lang="en-US" sz="4800" b="1" u="sng" dirty="0">
                <a:latin typeface="Times New Roman" panose="02020603050405020304" pitchFamily="18" charset="0"/>
                <a:ea typeface="Times New Roman"/>
                <a:cs typeface="Times New Roman" panose="02020603050405020304" pitchFamily="18" charset="0"/>
                <a:sym typeface="Times New Roman"/>
              </a:rPr>
              <a:t>WORKFLOW DIAGRAM</a:t>
            </a:r>
            <a:endParaRPr lang="en-US" sz="4800" b="1" u="sng" dirty="0">
              <a:latin typeface="Times New Roman" panose="02020603050405020304" pitchFamily="18" charset="0"/>
              <a:cs typeface="Times New Roman" panose="02020603050405020304" pitchFamily="18" charset="0"/>
            </a:endParaRPr>
          </a:p>
        </p:txBody>
      </p:sp>
      <p:sp>
        <p:nvSpPr>
          <p:cNvPr id="4" name="Freeform 2"/>
          <p:cNvSpPr/>
          <p:nvPr/>
        </p:nvSpPr>
        <p:spPr>
          <a:xfrm>
            <a:off x="-2009505" y="-495300"/>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6" name="Freeform 14"/>
          <p:cNvSpPr/>
          <p:nvPr/>
        </p:nvSpPr>
        <p:spPr>
          <a:xfrm rot="-1248570">
            <a:off x="14302626" y="-403706"/>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2" name="Can 1"/>
          <p:cNvSpPr/>
          <p:nvPr/>
        </p:nvSpPr>
        <p:spPr>
          <a:xfrm>
            <a:off x="685799" y="3004457"/>
            <a:ext cx="1556657" cy="2087422"/>
          </a:xfrm>
          <a:prstGeom prst="can">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718457" y="3800073"/>
            <a:ext cx="1524000" cy="477054"/>
          </a:xfrm>
          <a:prstGeom prst="rect">
            <a:avLst/>
          </a:prstGeom>
          <a:noFill/>
        </p:spPr>
        <p:txBody>
          <a:bodyPr wrap="square" rtlCol="0">
            <a:spAutoFit/>
          </a:bodyPr>
          <a:lstStyle/>
          <a:p>
            <a:r>
              <a:rPr lang="en-US" sz="2500" b="1" dirty="0" smtClean="0">
                <a:latin typeface="Times New Roman" panose="02020603050405020304" pitchFamily="18" charset="0"/>
                <a:cs typeface="Times New Roman" panose="02020603050405020304" pitchFamily="18" charset="0"/>
              </a:rPr>
              <a:t>Database</a:t>
            </a:r>
            <a:endParaRPr lang="en-IN" sz="2500" b="1" dirty="0">
              <a:latin typeface="Times New Roman" panose="02020603050405020304" pitchFamily="18" charset="0"/>
              <a:cs typeface="Times New Roman" panose="02020603050405020304" pitchFamily="18" charset="0"/>
            </a:endParaRPr>
          </a:p>
        </p:txBody>
      </p:sp>
      <p:cxnSp>
        <p:nvCxnSpPr>
          <p:cNvPr id="8" name="Straight Arrow Connector 7"/>
          <p:cNvCxnSpPr>
            <a:stCxn id="3" idx="3"/>
          </p:cNvCxnSpPr>
          <p:nvPr/>
        </p:nvCxnSpPr>
        <p:spPr>
          <a:xfrm>
            <a:off x="2242457" y="4038600"/>
            <a:ext cx="103414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 name="Rectangle 9"/>
          <p:cNvSpPr/>
          <p:nvPr/>
        </p:nvSpPr>
        <p:spPr>
          <a:xfrm>
            <a:off x="3276600" y="3536539"/>
            <a:ext cx="2590800" cy="1149761"/>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Data Retrieval</a:t>
            </a:r>
            <a:endParaRPr lang="en-IN" sz="2800" b="1" dirty="0">
              <a:solidFill>
                <a:schemeClr val="tx1"/>
              </a:solidFill>
              <a:latin typeface="Times New Roman" panose="02020603050405020304" pitchFamily="18" charset="0"/>
              <a:cs typeface="Times New Roman" panose="02020603050405020304" pitchFamily="18" charset="0"/>
            </a:endParaRPr>
          </a:p>
        </p:txBody>
      </p:sp>
      <p:cxnSp>
        <p:nvCxnSpPr>
          <p:cNvPr id="17" name="Straight Arrow Connector 16"/>
          <p:cNvCxnSpPr>
            <a:stCxn id="10" idx="2"/>
          </p:cNvCxnSpPr>
          <p:nvPr/>
        </p:nvCxnSpPr>
        <p:spPr>
          <a:xfrm>
            <a:off x="4572000" y="4686300"/>
            <a:ext cx="0" cy="8667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8" name="Rectangle 17"/>
          <p:cNvSpPr/>
          <p:nvPr/>
        </p:nvSpPr>
        <p:spPr>
          <a:xfrm>
            <a:off x="685801" y="5593940"/>
            <a:ext cx="7848599" cy="2994890"/>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914400" y="6210300"/>
            <a:ext cx="2133600" cy="1522900"/>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smtClean="0">
                <a:solidFill>
                  <a:schemeClr val="tx1"/>
                </a:solidFill>
                <a:latin typeface="Times New Roman" panose="02020603050405020304" pitchFamily="18" charset="0"/>
                <a:cs typeface="Times New Roman" panose="02020603050405020304" pitchFamily="18" charset="0"/>
              </a:rPr>
              <a:t>      Data   </a:t>
            </a:r>
          </a:p>
          <a:p>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smtClean="0">
                <a:solidFill>
                  <a:schemeClr val="tx1"/>
                </a:solidFill>
                <a:latin typeface="Times New Roman" panose="02020603050405020304" pitchFamily="18" charset="0"/>
                <a:cs typeface="Times New Roman" panose="02020603050405020304" pitchFamily="18" charset="0"/>
              </a:rPr>
              <a:t> Processing</a:t>
            </a: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3514452" y="6162273"/>
            <a:ext cx="2209800" cy="1570927"/>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smtClean="0">
                <a:solidFill>
                  <a:schemeClr val="tx1"/>
                </a:solidFill>
                <a:latin typeface="Times New Roman" panose="02020603050405020304" pitchFamily="18" charset="0"/>
                <a:cs typeface="Times New Roman" panose="02020603050405020304" pitchFamily="18" charset="0"/>
              </a:rPr>
              <a:t>    Feature   </a:t>
            </a:r>
            <a:endParaRPr lang="en-US" sz="2400" b="1" dirty="0">
              <a:solidFill>
                <a:schemeClr val="tx1"/>
              </a:solidFill>
              <a:latin typeface="Times New Roman" panose="02020603050405020304" pitchFamily="18" charset="0"/>
              <a:cs typeface="Times New Roman" panose="02020603050405020304" pitchFamily="18" charset="0"/>
            </a:endParaRPr>
          </a:p>
          <a:p>
            <a:r>
              <a:rPr lang="en-US" sz="2400" b="1" dirty="0">
                <a:solidFill>
                  <a:schemeClr val="tx1"/>
                </a:solidFill>
                <a:latin typeface="Times New Roman" panose="02020603050405020304" pitchFamily="18" charset="0"/>
                <a:cs typeface="Times New Roman" panose="02020603050405020304" pitchFamily="18" charset="0"/>
              </a:rPr>
              <a:t> extraction &amp;      </a:t>
            </a:r>
          </a:p>
          <a:p>
            <a:r>
              <a:rPr lang="en-US" sz="2400" b="1" dirty="0">
                <a:solidFill>
                  <a:schemeClr val="tx1"/>
                </a:solidFill>
                <a:latin typeface="Times New Roman" panose="02020603050405020304" pitchFamily="18" charset="0"/>
                <a:cs typeface="Times New Roman" panose="02020603050405020304" pitchFamily="18" charset="0"/>
              </a:rPr>
              <a:t>  Engineering</a:t>
            </a:r>
            <a:endParaRPr lang="en-IN" sz="2400" dirty="0">
              <a:solidFill>
                <a:schemeClr val="tx1"/>
              </a:solidFill>
            </a:endParaRPr>
          </a:p>
        </p:txBody>
      </p:sp>
      <p:sp>
        <p:nvSpPr>
          <p:cNvPr id="21" name="Rectangle 20"/>
          <p:cNvSpPr/>
          <p:nvPr/>
        </p:nvSpPr>
        <p:spPr>
          <a:xfrm>
            <a:off x="6190704" y="6162273"/>
            <a:ext cx="2053048" cy="1592340"/>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smtClean="0">
                <a:solidFill>
                  <a:schemeClr val="tx1"/>
                </a:solidFill>
                <a:latin typeface="Times New Roman" panose="02020603050405020304" pitchFamily="18" charset="0"/>
                <a:cs typeface="Times New Roman" panose="02020603050405020304" pitchFamily="18" charset="0"/>
              </a:rPr>
              <a:t>   Feature </a:t>
            </a:r>
            <a:endParaRPr lang="en-US" sz="2400" b="1" dirty="0">
              <a:solidFill>
                <a:schemeClr val="tx1"/>
              </a:solidFill>
              <a:latin typeface="Times New Roman" panose="02020603050405020304" pitchFamily="18" charset="0"/>
              <a:cs typeface="Times New Roman" panose="02020603050405020304" pitchFamily="18" charset="0"/>
            </a:endParaRPr>
          </a:p>
          <a:p>
            <a:r>
              <a:rPr lang="en-US" sz="2400" b="1" dirty="0" smtClean="0">
                <a:solidFill>
                  <a:schemeClr val="tx1"/>
                </a:solidFill>
                <a:latin typeface="Times New Roman" panose="02020603050405020304" pitchFamily="18" charset="0"/>
                <a:cs typeface="Times New Roman" panose="02020603050405020304" pitchFamily="18" charset="0"/>
              </a:rPr>
              <a:t>  Scaling </a:t>
            </a:r>
            <a:r>
              <a:rPr lang="en-US" sz="2400" b="1" dirty="0">
                <a:solidFill>
                  <a:schemeClr val="tx1"/>
                </a:solidFill>
                <a:latin typeface="Times New Roman" panose="02020603050405020304" pitchFamily="18" charset="0"/>
                <a:cs typeface="Times New Roman" panose="02020603050405020304" pitchFamily="18" charset="0"/>
              </a:rPr>
              <a:t>&amp; </a:t>
            </a:r>
            <a:r>
              <a:rPr lang="en-US" sz="2400" b="1" dirty="0" smtClean="0">
                <a:solidFill>
                  <a:schemeClr val="tx1"/>
                </a:solidFill>
                <a:latin typeface="Times New Roman" panose="02020603050405020304" pitchFamily="18" charset="0"/>
                <a:cs typeface="Times New Roman" panose="02020603050405020304" pitchFamily="18" charset="0"/>
              </a:rPr>
              <a:t>  </a:t>
            </a:r>
          </a:p>
          <a:p>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smtClean="0">
                <a:solidFill>
                  <a:schemeClr val="tx1"/>
                </a:solidFill>
                <a:latin typeface="Times New Roman" panose="02020603050405020304" pitchFamily="18" charset="0"/>
                <a:cs typeface="Times New Roman" panose="02020603050405020304" pitchFamily="18" charset="0"/>
              </a:rPr>
              <a:t> Selection</a:t>
            </a: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3048000" y="7975254"/>
            <a:ext cx="2819400" cy="520014"/>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smtClean="0">
                <a:solidFill>
                  <a:schemeClr val="tx1"/>
                </a:solidFill>
                <a:latin typeface="Times New Roman" panose="02020603050405020304" pitchFamily="18" charset="0"/>
                <a:cs typeface="Times New Roman" panose="02020603050405020304" pitchFamily="18" charset="0"/>
              </a:rPr>
              <a:t>     Data </a:t>
            </a:r>
            <a:r>
              <a:rPr lang="en-US" sz="2000" b="1" dirty="0">
                <a:solidFill>
                  <a:schemeClr val="tx1"/>
                </a:solidFill>
                <a:latin typeface="Times New Roman" panose="02020603050405020304" pitchFamily="18" charset="0"/>
                <a:cs typeface="Times New Roman" panose="02020603050405020304" pitchFamily="18" charset="0"/>
              </a:rPr>
              <a:t>Preparation</a:t>
            </a: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24" name="Snip Single Corner Rectangle 23"/>
          <p:cNvSpPr/>
          <p:nvPr/>
        </p:nvSpPr>
        <p:spPr>
          <a:xfrm>
            <a:off x="9391646" y="3511162"/>
            <a:ext cx="2362200" cy="1200513"/>
          </a:xfrm>
          <a:prstGeom prst="snip1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p:cNvSpPr txBox="1"/>
          <p:nvPr/>
        </p:nvSpPr>
        <p:spPr>
          <a:xfrm>
            <a:off x="9753599" y="3536539"/>
            <a:ext cx="1752600" cy="1200329"/>
          </a:xfrm>
          <a:prstGeom prst="rect">
            <a:avLst/>
          </a:prstGeom>
          <a:noFill/>
        </p:spPr>
        <p:txBody>
          <a:bodyPr wrap="square" rtlCol="0">
            <a:spAutoFit/>
          </a:bodyPr>
          <a:lstStyle/>
          <a:p>
            <a:r>
              <a:rPr lang="en-US" sz="2400" b="1" dirty="0" smtClean="0">
                <a:latin typeface="Times New Roman" panose="02020603050405020304" pitchFamily="18" charset="0"/>
                <a:cs typeface="Times New Roman" panose="02020603050405020304" pitchFamily="18" charset="0"/>
              </a:rPr>
              <a:t>Machin Learning</a:t>
            </a:r>
          </a:p>
          <a:p>
            <a:r>
              <a:rPr lang="en-US" sz="2400" b="1" dirty="0" smtClean="0">
                <a:latin typeface="Times New Roman" panose="02020603050405020304" pitchFamily="18" charset="0"/>
                <a:cs typeface="Times New Roman" panose="02020603050405020304" pitchFamily="18" charset="0"/>
              </a:rPr>
              <a:t>Algorithm</a:t>
            </a:r>
            <a:endParaRPr lang="en-IN" sz="2400" b="1" dirty="0">
              <a:latin typeface="Times New Roman" panose="02020603050405020304" pitchFamily="18" charset="0"/>
              <a:cs typeface="Times New Roman" panose="02020603050405020304" pitchFamily="18" charset="0"/>
            </a:endParaRPr>
          </a:p>
        </p:txBody>
      </p:sp>
      <p:cxnSp>
        <p:nvCxnSpPr>
          <p:cNvPr id="27" name="Straight Arrow Connector 26"/>
          <p:cNvCxnSpPr/>
          <p:nvPr/>
        </p:nvCxnSpPr>
        <p:spPr>
          <a:xfrm>
            <a:off x="10448922" y="4791276"/>
            <a:ext cx="0" cy="1523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Rectangle 27"/>
          <p:cNvSpPr/>
          <p:nvPr/>
        </p:nvSpPr>
        <p:spPr>
          <a:xfrm>
            <a:off x="9391646" y="6354855"/>
            <a:ext cx="2114553" cy="1506213"/>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p:cNvSpPr txBox="1"/>
          <p:nvPr/>
        </p:nvSpPr>
        <p:spPr>
          <a:xfrm>
            <a:off x="9648549" y="6877128"/>
            <a:ext cx="2714896" cy="461665"/>
          </a:xfrm>
          <a:prstGeom prst="rect">
            <a:avLst/>
          </a:prstGeom>
          <a:noFill/>
        </p:spPr>
        <p:txBody>
          <a:bodyPr wrap="square" rtlCol="0">
            <a:spAutoFit/>
          </a:bodyPr>
          <a:lstStyle/>
          <a:p>
            <a:r>
              <a:rPr lang="en-US" sz="2400" b="1" dirty="0" smtClean="0">
                <a:latin typeface="Times New Roman" panose="02020603050405020304" pitchFamily="18" charset="0"/>
                <a:cs typeface="Times New Roman" panose="02020603050405020304" pitchFamily="18" charset="0"/>
              </a:rPr>
              <a:t>Modeling</a:t>
            </a:r>
            <a:endParaRPr lang="en-IN" sz="2400" b="1" dirty="0">
              <a:latin typeface="Times New Roman" panose="02020603050405020304" pitchFamily="18" charset="0"/>
              <a:cs typeface="Times New Roman" panose="02020603050405020304" pitchFamily="18" charset="0"/>
            </a:endParaRPr>
          </a:p>
        </p:txBody>
      </p:sp>
      <p:cxnSp>
        <p:nvCxnSpPr>
          <p:cNvPr id="31" name="Straight Arrow Connector 30"/>
          <p:cNvCxnSpPr>
            <a:stCxn id="18" idx="3"/>
            <a:endCxn id="28" idx="1"/>
          </p:cNvCxnSpPr>
          <p:nvPr/>
        </p:nvCxnSpPr>
        <p:spPr>
          <a:xfrm>
            <a:off x="8534400" y="7091385"/>
            <a:ext cx="857246" cy="1657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p:cNvCxnSpPr/>
          <p:nvPr/>
        </p:nvCxnSpPr>
        <p:spPr>
          <a:xfrm>
            <a:off x="11540890" y="7159834"/>
            <a:ext cx="576944" cy="165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4" name="Flowchart: Decision 33"/>
          <p:cNvSpPr/>
          <p:nvPr/>
        </p:nvSpPr>
        <p:spPr>
          <a:xfrm>
            <a:off x="12154168" y="6188527"/>
            <a:ext cx="2361661" cy="1981200"/>
          </a:xfrm>
          <a:prstGeom prst="flowChartDecision">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p:cNvSpPr txBox="1"/>
          <p:nvPr/>
        </p:nvSpPr>
        <p:spPr>
          <a:xfrm>
            <a:off x="12562589" y="6679875"/>
            <a:ext cx="2159866" cy="1015663"/>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   Modeling</a:t>
            </a:r>
          </a:p>
          <a:p>
            <a:r>
              <a:rPr lang="en-US" sz="2000" b="1" dirty="0" smtClean="0">
                <a:latin typeface="Times New Roman" panose="02020603050405020304" pitchFamily="18" charset="0"/>
                <a:cs typeface="Times New Roman" panose="02020603050405020304" pitchFamily="18" charset="0"/>
              </a:rPr>
              <a:t>Evaluation &amp;     </a:t>
            </a:r>
          </a:p>
          <a:p>
            <a:r>
              <a:rPr lang="en-US" sz="2000" b="1" dirty="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   Tuning</a:t>
            </a:r>
            <a:endParaRPr lang="en-IN" sz="2000" b="1" dirty="0">
              <a:latin typeface="Times New Roman" panose="02020603050405020304" pitchFamily="18" charset="0"/>
              <a:cs typeface="Times New Roman" panose="02020603050405020304" pitchFamily="18" charset="0"/>
            </a:endParaRPr>
          </a:p>
        </p:txBody>
      </p:sp>
      <p:cxnSp>
        <p:nvCxnSpPr>
          <p:cNvPr id="37" name="Straight Arrow Connector 36"/>
          <p:cNvCxnSpPr/>
          <p:nvPr/>
        </p:nvCxnSpPr>
        <p:spPr>
          <a:xfrm>
            <a:off x="14515829" y="7159834"/>
            <a:ext cx="703011" cy="278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8" name="Rectangle 37"/>
          <p:cNvSpPr/>
          <p:nvPr/>
        </p:nvSpPr>
        <p:spPr>
          <a:xfrm>
            <a:off x="15218840" y="6416167"/>
            <a:ext cx="2270145" cy="1614270"/>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p:cNvSpPr txBox="1"/>
          <p:nvPr/>
        </p:nvSpPr>
        <p:spPr>
          <a:xfrm>
            <a:off x="15398079" y="6807804"/>
            <a:ext cx="2003824" cy="830997"/>
          </a:xfrm>
          <a:prstGeom prst="rect">
            <a:avLst/>
          </a:prstGeom>
          <a:noFill/>
        </p:spPr>
        <p:txBody>
          <a:bodyPr wrap="square" rtlCol="0">
            <a:spAutoFit/>
          </a:bodyPr>
          <a:lstStyle/>
          <a:p>
            <a:r>
              <a:rPr lang="en-US" sz="2400" b="1" dirty="0" smtClean="0">
                <a:latin typeface="Times New Roman" panose="02020603050405020304" pitchFamily="18" charset="0"/>
                <a:cs typeface="Times New Roman" panose="02020603050405020304" pitchFamily="18" charset="0"/>
              </a:rPr>
              <a:t>  Deployment &amp; Monitoring</a:t>
            </a:r>
            <a:endParaRPr lang="en-IN" sz="2400" b="1" dirty="0">
              <a:latin typeface="Times New Roman" panose="02020603050405020304" pitchFamily="18" charset="0"/>
              <a:cs typeface="Times New Roman" panose="02020603050405020304" pitchFamily="18" charset="0"/>
            </a:endParaRPr>
          </a:p>
        </p:txBody>
      </p:sp>
      <p:cxnSp>
        <p:nvCxnSpPr>
          <p:cNvPr id="42" name="Straight Connector 41"/>
          <p:cNvCxnSpPr/>
          <p:nvPr/>
        </p:nvCxnSpPr>
        <p:spPr>
          <a:xfrm>
            <a:off x="13334998" y="8169727"/>
            <a:ext cx="0" cy="1317173"/>
          </a:xfrm>
          <a:prstGeom prst="line">
            <a:avLst/>
          </a:prstGeom>
        </p:spPr>
        <p:style>
          <a:lnRef idx="3">
            <a:schemeClr val="dk1"/>
          </a:lnRef>
          <a:fillRef idx="0">
            <a:schemeClr val="dk1"/>
          </a:fillRef>
          <a:effectRef idx="2">
            <a:schemeClr val="dk1"/>
          </a:effectRef>
          <a:fontRef idx="minor">
            <a:schemeClr val="tx1"/>
          </a:fontRef>
        </p:style>
      </p:cxnSp>
      <p:cxnSp>
        <p:nvCxnSpPr>
          <p:cNvPr id="44" name="Straight Connector 43"/>
          <p:cNvCxnSpPr/>
          <p:nvPr/>
        </p:nvCxnSpPr>
        <p:spPr>
          <a:xfrm flipH="1">
            <a:off x="12154168" y="9470151"/>
            <a:ext cx="1180830" cy="0"/>
          </a:xfrm>
          <a:prstGeom prst="line">
            <a:avLst/>
          </a:prstGeom>
        </p:spPr>
        <p:style>
          <a:lnRef idx="3">
            <a:schemeClr val="dk1"/>
          </a:lnRef>
          <a:fillRef idx="0">
            <a:schemeClr val="dk1"/>
          </a:fillRef>
          <a:effectRef idx="2">
            <a:schemeClr val="dk1"/>
          </a:effectRef>
          <a:fontRef idx="minor">
            <a:schemeClr val="tx1"/>
          </a:fontRef>
        </p:style>
      </p:cxnSp>
      <p:sp>
        <p:nvSpPr>
          <p:cNvPr id="45" name="TextBox 44"/>
          <p:cNvSpPr txBox="1"/>
          <p:nvPr/>
        </p:nvSpPr>
        <p:spPr>
          <a:xfrm>
            <a:off x="6013544" y="9192843"/>
            <a:ext cx="6140623" cy="461665"/>
          </a:xfrm>
          <a:prstGeom prst="rect">
            <a:avLst/>
          </a:prstGeom>
          <a:noFill/>
        </p:spPr>
        <p:txBody>
          <a:bodyPr wrap="square" rtlCol="0">
            <a:spAutoFit/>
          </a:bodyPr>
          <a:lstStyle/>
          <a:p>
            <a:r>
              <a:rPr lang="en-US" sz="2400" b="1" dirty="0" smtClean="0">
                <a:latin typeface="Times New Roman" panose="02020603050405020304" pitchFamily="18" charset="0"/>
                <a:cs typeface="Times New Roman" panose="02020603050405020304" pitchFamily="18" charset="0"/>
              </a:rPr>
              <a:t>Re-iterate till satisfactory model performance</a:t>
            </a:r>
            <a:endParaRPr lang="en-IN" sz="2400" b="1" dirty="0">
              <a:latin typeface="Times New Roman" panose="02020603050405020304" pitchFamily="18" charset="0"/>
              <a:cs typeface="Times New Roman" panose="02020603050405020304" pitchFamily="18" charset="0"/>
            </a:endParaRPr>
          </a:p>
        </p:txBody>
      </p:sp>
      <p:cxnSp>
        <p:nvCxnSpPr>
          <p:cNvPr id="47" name="Straight Connector 46"/>
          <p:cNvCxnSpPr/>
          <p:nvPr/>
        </p:nvCxnSpPr>
        <p:spPr>
          <a:xfrm flipH="1" flipV="1">
            <a:off x="4280540" y="9468296"/>
            <a:ext cx="1733004" cy="25973"/>
          </a:xfrm>
          <a:prstGeom prst="line">
            <a:avLst/>
          </a:prstGeom>
        </p:spPr>
        <p:style>
          <a:lnRef idx="3">
            <a:schemeClr val="dk1"/>
          </a:lnRef>
          <a:fillRef idx="0">
            <a:schemeClr val="dk1"/>
          </a:fillRef>
          <a:effectRef idx="2">
            <a:schemeClr val="dk1"/>
          </a:effectRef>
          <a:fontRef idx="minor">
            <a:schemeClr val="tx1"/>
          </a:fontRef>
        </p:style>
      </p:cxnSp>
      <p:cxnSp>
        <p:nvCxnSpPr>
          <p:cNvPr id="49" name="Straight Arrow Connector 48"/>
          <p:cNvCxnSpPr/>
          <p:nvPr/>
        </p:nvCxnSpPr>
        <p:spPr>
          <a:xfrm flipV="1">
            <a:off x="4280540" y="8651521"/>
            <a:ext cx="0" cy="7721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469852" y="854693"/>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568610" y="2766277"/>
            <a:ext cx="7399403" cy="11629710"/>
          </a:xfrm>
          <a:custGeom>
            <a:avLst/>
            <a:gdLst/>
            <a:ahLst/>
            <a:cxnLst/>
            <a:rect l="l" t="t" r="r" b="b"/>
            <a:pathLst>
              <a:path w="7399403" h="11629710">
                <a:moveTo>
                  <a:pt x="0" y="0"/>
                </a:moveTo>
                <a:lnTo>
                  <a:pt x="7399403" y="0"/>
                </a:lnTo>
                <a:lnTo>
                  <a:pt x="7399403" y="11629710"/>
                </a:lnTo>
                <a:lnTo>
                  <a:pt x="0" y="1162971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4" name="Group 4"/>
          <p:cNvGrpSpPr/>
          <p:nvPr/>
        </p:nvGrpSpPr>
        <p:grpSpPr>
          <a:xfrm>
            <a:off x="2409235" y="4591506"/>
            <a:ext cx="5694209" cy="8280195"/>
            <a:chOff x="0" y="0"/>
            <a:chExt cx="812800" cy="1181928"/>
          </a:xfrm>
        </p:grpSpPr>
        <p:sp>
          <p:nvSpPr>
            <p:cNvPr id="5" name="Freeform 5"/>
            <p:cNvSpPr/>
            <p:nvPr/>
          </p:nvSpPr>
          <p:spPr>
            <a:xfrm>
              <a:off x="0" y="0"/>
              <a:ext cx="812800" cy="1181927"/>
            </a:xfrm>
            <a:custGeom>
              <a:avLst/>
              <a:gdLst/>
              <a:ahLst/>
              <a:cxnLst/>
              <a:rect l="l" t="t" r="r" b="b"/>
              <a:pathLst>
                <a:path w="812800" h="1181927">
                  <a:moveTo>
                    <a:pt x="0" y="0"/>
                  </a:moveTo>
                  <a:lnTo>
                    <a:pt x="812800" y="0"/>
                  </a:lnTo>
                  <a:lnTo>
                    <a:pt x="812800" y="1181927"/>
                  </a:lnTo>
                  <a:lnTo>
                    <a:pt x="0" y="1181927"/>
                  </a:lnTo>
                  <a:close/>
                </a:path>
              </a:pathLst>
            </a:custGeom>
            <a:solidFill>
              <a:srgbClr val="E9EAF6"/>
            </a:solidFill>
          </p:spPr>
        </p:sp>
        <p:sp>
          <p:nvSpPr>
            <p:cNvPr id="6" name="TextBox 6"/>
            <p:cNvSpPr txBox="1"/>
            <p:nvPr/>
          </p:nvSpPr>
          <p:spPr>
            <a:xfrm>
              <a:off x="0" y="-38100"/>
              <a:ext cx="812800" cy="1220028"/>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10444927" y="1099306"/>
            <a:ext cx="7876905" cy="7726439"/>
          </a:xfrm>
          <a:custGeom>
            <a:avLst/>
            <a:gdLst/>
            <a:ahLst/>
            <a:cxnLst/>
            <a:rect l="l" t="t" r="r" b="b"/>
            <a:pathLst>
              <a:path w="7876905" h="7726439">
                <a:moveTo>
                  <a:pt x="0" y="0"/>
                </a:moveTo>
                <a:lnTo>
                  <a:pt x="7876905" y="0"/>
                </a:lnTo>
                <a:lnTo>
                  <a:pt x="7876905" y="7726438"/>
                </a:lnTo>
                <a:lnTo>
                  <a:pt x="0" y="7726438"/>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8" name="Freeform 8"/>
          <p:cNvSpPr/>
          <p:nvPr/>
        </p:nvSpPr>
        <p:spPr>
          <a:xfrm>
            <a:off x="9604302" y="4032727"/>
            <a:ext cx="7399403" cy="11629710"/>
          </a:xfrm>
          <a:custGeom>
            <a:avLst/>
            <a:gdLst/>
            <a:ahLst/>
            <a:cxnLst/>
            <a:rect l="l" t="t" r="r" b="b"/>
            <a:pathLst>
              <a:path w="7399403" h="11629710">
                <a:moveTo>
                  <a:pt x="0" y="0"/>
                </a:moveTo>
                <a:lnTo>
                  <a:pt x="7399403" y="0"/>
                </a:lnTo>
                <a:lnTo>
                  <a:pt x="7399403" y="11629709"/>
                </a:lnTo>
                <a:lnTo>
                  <a:pt x="0" y="11629709"/>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9" name="Group 9"/>
          <p:cNvGrpSpPr/>
          <p:nvPr/>
        </p:nvGrpSpPr>
        <p:grpSpPr>
          <a:xfrm>
            <a:off x="10444927" y="5857955"/>
            <a:ext cx="5694209" cy="8280195"/>
            <a:chOff x="0" y="0"/>
            <a:chExt cx="812800" cy="1181928"/>
          </a:xfrm>
        </p:grpSpPr>
        <p:sp>
          <p:nvSpPr>
            <p:cNvPr id="10" name="Freeform 10"/>
            <p:cNvSpPr/>
            <p:nvPr/>
          </p:nvSpPr>
          <p:spPr>
            <a:xfrm>
              <a:off x="0" y="0"/>
              <a:ext cx="812800" cy="1181927"/>
            </a:xfrm>
            <a:custGeom>
              <a:avLst/>
              <a:gdLst/>
              <a:ahLst/>
              <a:cxnLst/>
              <a:rect l="l" t="t" r="r" b="b"/>
              <a:pathLst>
                <a:path w="812800" h="1181927">
                  <a:moveTo>
                    <a:pt x="0" y="0"/>
                  </a:moveTo>
                  <a:lnTo>
                    <a:pt x="812800" y="0"/>
                  </a:lnTo>
                  <a:lnTo>
                    <a:pt x="812800" y="1181927"/>
                  </a:lnTo>
                  <a:lnTo>
                    <a:pt x="0" y="1181927"/>
                  </a:lnTo>
                  <a:close/>
                </a:path>
              </a:pathLst>
            </a:custGeom>
            <a:solidFill>
              <a:srgbClr val="E9EAF6"/>
            </a:solidFill>
          </p:spPr>
        </p:sp>
        <p:sp>
          <p:nvSpPr>
            <p:cNvPr id="11" name="TextBox 11"/>
            <p:cNvSpPr txBox="1"/>
            <p:nvPr/>
          </p:nvSpPr>
          <p:spPr>
            <a:xfrm>
              <a:off x="0" y="-38100"/>
              <a:ext cx="812800" cy="1220028"/>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rot="-1257881">
            <a:off x="-481978" y="1723876"/>
            <a:ext cx="3021357" cy="2927969"/>
          </a:xfrm>
          <a:custGeom>
            <a:avLst/>
            <a:gdLst/>
            <a:ahLst/>
            <a:cxnLst/>
            <a:rect l="l" t="t" r="r" b="b"/>
            <a:pathLst>
              <a:path w="3021357" h="2927969">
                <a:moveTo>
                  <a:pt x="0" y="0"/>
                </a:moveTo>
                <a:lnTo>
                  <a:pt x="3021356" y="0"/>
                </a:lnTo>
                <a:lnTo>
                  <a:pt x="3021356" y="2927969"/>
                </a:lnTo>
                <a:lnTo>
                  <a:pt x="0" y="2927969"/>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3" name="Freeform 13"/>
          <p:cNvSpPr/>
          <p:nvPr/>
        </p:nvSpPr>
        <p:spPr>
          <a:xfrm rot="-137149">
            <a:off x="9171401" y="3701601"/>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4" name="Freeform 14"/>
          <p:cNvSpPr/>
          <p:nvPr/>
        </p:nvSpPr>
        <p:spPr>
          <a:xfrm rot="-1248570">
            <a:off x="16025034" y="1471528"/>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15" name="TextBox 15"/>
          <p:cNvSpPr txBox="1"/>
          <p:nvPr/>
        </p:nvSpPr>
        <p:spPr>
          <a:xfrm>
            <a:off x="2743868" y="7137256"/>
            <a:ext cx="5140099" cy="1861535"/>
          </a:xfrm>
          <a:prstGeom prst="rect">
            <a:avLst/>
          </a:prstGeom>
        </p:spPr>
        <p:txBody>
          <a:bodyPr wrap="square" lIns="0" tIns="0" rIns="0" bIns="0" rtlCol="0" anchor="t">
            <a:spAutoFit/>
          </a:bodyPr>
          <a:lstStyle/>
          <a:p>
            <a:pPr>
              <a:lnSpc>
                <a:spcPct val="150000"/>
              </a:lnSpc>
            </a:pPr>
            <a:r>
              <a:rPr lang="en-US" sz="2800" b="1" dirty="0">
                <a:latin typeface="Times New Roman" panose="02020603050405020304" pitchFamily="18" charset="0"/>
                <a:ea typeface="Public Sans"/>
                <a:cs typeface="Times New Roman" panose="02020603050405020304" pitchFamily="18" charset="0"/>
                <a:sym typeface="Public Sans"/>
              </a:rPr>
              <a:t>Processor</a:t>
            </a:r>
            <a:r>
              <a:rPr lang="en-US" sz="2800" dirty="0">
                <a:latin typeface="Times New Roman" panose="02020603050405020304" pitchFamily="18" charset="0"/>
                <a:ea typeface="Public Sans"/>
                <a:cs typeface="Times New Roman" panose="02020603050405020304" pitchFamily="18" charset="0"/>
                <a:sym typeface="Public Sans"/>
              </a:rPr>
              <a:t>: Intel i5 </a:t>
            </a:r>
          </a:p>
          <a:p>
            <a:pPr>
              <a:lnSpc>
                <a:spcPct val="150000"/>
              </a:lnSpc>
            </a:pPr>
            <a:r>
              <a:rPr lang="en-US" sz="2800" b="1" dirty="0">
                <a:latin typeface="Times New Roman" panose="02020603050405020304" pitchFamily="18" charset="0"/>
                <a:ea typeface="Public Sans"/>
                <a:cs typeface="Times New Roman" panose="02020603050405020304" pitchFamily="18" charset="0"/>
                <a:sym typeface="Public Sans"/>
              </a:rPr>
              <a:t>RAM</a:t>
            </a:r>
            <a:r>
              <a:rPr lang="en-US" sz="2800" dirty="0">
                <a:latin typeface="Times New Roman" panose="02020603050405020304" pitchFamily="18" charset="0"/>
                <a:ea typeface="Public Sans"/>
                <a:cs typeface="Times New Roman" panose="02020603050405020304" pitchFamily="18" charset="0"/>
                <a:sym typeface="Public Sans"/>
              </a:rPr>
              <a:t>: 8 GB or higher</a:t>
            </a:r>
          </a:p>
          <a:p>
            <a:pPr>
              <a:lnSpc>
                <a:spcPct val="150000"/>
              </a:lnSpc>
            </a:pPr>
            <a:r>
              <a:rPr lang="en-US" sz="2800" b="1" dirty="0">
                <a:latin typeface="Times New Roman" panose="02020603050405020304" pitchFamily="18" charset="0"/>
                <a:ea typeface="Public Sans"/>
                <a:cs typeface="Times New Roman" panose="02020603050405020304" pitchFamily="18" charset="0"/>
                <a:sym typeface="Public Sans"/>
              </a:rPr>
              <a:t>Storage</a:t>
            </a:r>
            <a:r>
              <a:rPr lang="en-US" sz="2800" dirty="0">
                <a:latin typeface="Times New Roman" panose="02020603050405020304" pitchFamily="18" charset="0"/>
                <a:ea typeface="Public Sans"/>
                <a:cs typeface="Times New Roman" panose="02020603050405020304" pitchFamily="18" charset="0"/>
                <a:sym typeface="Public Sans"/>
              </a:rPr>
              <a:t>: 500 GB or higher</a:t>
            </a:r>
          </a:p>
        </p:txBody>
      </p:sp>
      <p:sp>
        <p:nvSpPr>
          <p:cNvPr id="16" name="TextBox 16"/>
          <p:cNvSpPr txBox="1"/>
          <p:nvPr/>
        </p:nvSpPr>
        <p:spPr>
          <a:xfrm>
            <a:off x="10526681" y="7540731"/>
            <a:ext cx="5998630" cy="3188565"/>
          </a:xfrm>
          <a:prstGeom prst="rect">
            <a:avLst/>
          </a:prstGeom>
        </p:spPr>
        <p:txBody>
          <a:bodyPr wrap="square" lIns="0" tIns="0" rIns="0" bIns="0" rtlCol="0" anchor="t">
            <a:spAutoFit/>
          </a:bodyPr>
          <a:lstStyle/>
          <a:p>
            <a:pPr lvl="0">
              <a:lnSpc>
                <a:spcPct val="150000"/>
              </a:lnSpc>
            </a:pPr>
            <a:r>
              <a:rPr lang="en-US" sz="2800" b="1" dirty="0">
                <a:latin typeface="Times New Roman" panose="02020603050405020304" pitchFamily="18" charset="0"/>
                <a:ea typeface="Times New Roman"/>
                <a:cs typeface="Times New Roman" panose="02020603050405020304" pitchFamily="18" charset="0"/>
                <a:sym typeface="Times New Roman"/>
              </a:rPr>
              <a:t>Operating System </a:t>
            </a:r>
            <a:r>
              <a:rPr lang="en-US" sz="2800" dirty="0">
                <a:latin typeface="Times New Roman" panose="02020603050405020304" pitchFamily="18" charset="0"/>
                <a:ea typeface="Times New Roman"/>
                <a:cs typeface="Times New Roman" panose="02020603050405020304" pitchFamily="18" charset="0"/>
                <a:sym typeface="Times New Roman"/>
              </a:rPr>
              <a:t>:Windows 10 or 11</a:t>
            </a:r>
            <a:endParaRPr lang="en-US" sz="2800" dirty="0">
              <a:latin typeface="Times New Roman" panose="02020603050405020304" pitchFamily="18" charset="0"/>
              <a:cs typeface="Times New Roman" panose="02020603050405020304" pitchFamily="18" charset="0"/>
            </a:endParaRPr>
          </a:p>
          <a:p>
            <a:pPr lvl="0">
              <a:lnSpc>
                <a:spcPct val="150000"/>
              </a:lnSpc>
            </a:pPr>
            <a:r>
              <a:rPr lang="en-US" sz="2800" b="1" dirty="0">
                <a:latin typeface="Times New Roman" panose="02020603050405020304" pitchFamily="18" charset="0"/>
                <a:ea typeface="Times New Roman"/>
                <a:cs typeface="Times New Roman" panose="02020603050405020304" pitchFamily="18" charset="0"/>
                <a:sym typeface="Times New Roman"/>
              </a:rPr>
              <a:t>IDE</a:t>
            </a:r>
            <a:r>
              <a:rPr lang="en-US" sz="2800" dirty="0">
                <a:latin typeface="Times New Roman" panose="02020603050405020304" pitchFamily="18" charset="0"/>
                <a:ea typeface="Times New Roman"/>
                <a:cs typeface="Times New Roman" panose="02020603050405020304" pitchFamily="18" charset="0"/>
                <a:sym typeface="Times New Roman"/>
              </a:rPr>
              <a:t>: </a:t>
            </a:r>
            <a:r>
              <a:rPr lang="en-US" sz="2800" dirty="0" err="1">
                <a:latin typeface="Times New Roman" panose="02020603050405020304" pitchFamily="18" charset="0"/>
                <a:ea typeface="Times New Roman"/>
                <a:cs typeface="Times New Roman" panose="02020603050405020304" pitchFamily="18" charset="0"/>
                <a:sym typeface="Times New Roman"/>
              </a:rPr>
              <a:t>Jupyter</a:t>
            </a:r>
            <a:r>
              <a:rPr lang="en-US" sz="2800" dirty="0">
                <a:latin typeface="Times New Roman" panose="02020603050405020304" pitchFamily="18" charset="0"/>
                <a:ea typeface="Times New Roman"/>
                <a:cs typeface="Times New Roman" panose="02020603050405020304" pitchFamily="18" charset="0"/>
                <a:sym typeface="Times New Roman"/>
              </a:rPr>
              <a:t> Notebook, </a:t>
            </a:r>
            <a:r>
              <a:rPr lang="en-US" sz="2800" dirty="0" err="1">
                <a:latin typeface="Times New Roman" panose="02020603050405020304" pitchFamily="18" charset="0"/>
                <a:ea typeface="Times New Roman"/>
                <a:cs typeface="Times New Roman" panose="02020603050405020304" pitchFamily="18" charset="0"/>
                <a:sym typeface="Times New Roman"/>
              </a:rPr>
              <a:t>PyCharm</a:t>
            </a:r>
            <a:r>
              <a:rPr lang="en-US" sz="2800" dirty="0">
                <a:latin typeface="Times New Roman" panose="02020603050405020304" pitchFamily="18" charset="0"/>
                <a:ea typeface="Times New Roman"/>
                <a:cs typeface="Times New Roman" panose="02020603050405020304" pitchFamily="18" charset="0"/>
                <a:sym typeface="Times New Roman"/>
              </a:rPr>
              <a:t> or </a:t>
            </a:r>
          </a:p>
          <a:p>
            <a:pPr lvl="0">
              <a:lnSpc>
                <a:spcPct val="150000"/>
              </a:lnSpc>
            </a:pPr>
            <a:r>
              <a:rPr lang="en-US" sz="2800" dirty="0">
                <a:latin typeface="Times New Roman" panose="02020603050405020304" pitchFamily="18" charset="0"/>
                <a:ea typeface="Times New Roman"/>
                <a:cs typeface="Times New Roman" panose="02020603050405020304" pitchFamily="18" charset="0"/>
                <a:sym typeface="Times New Roman"/>
              </a:rPr>
              <a:t>         VS Code.</a:t>
            </a:r>
          </a:p>
          <a:p>
            <a:pPr lvl="0">
              <a:lnSpc>
                <a:spcPct val="150000"/>
              </a:lnSpc>
            </a:pPr>
            <a:r>
              <a:rPr lang="en-US" sz="2800" b="1" dirty="0">
                <a:latin typeface="Times New Roman" panose="02020603050405020304" pitchFamily="18" charset="0"/>
                <a:ea typeface="Times New Roman"/>
                <a:cs typeface="Times New Roman" panose="02020603050405020304" pitchFamily="18" charset="0"/>
                <a:sym typeface="Times New Roman"/>
              </a:rPr>
              <a:t>Deployment</a:t>
            </a:r>
            <a:r>
              <a:rPr lang="en-US" sz="2800" dirty="0">
                <a:latin typeface="Times New Roman" panose="02020603050405020304" pitchFamily="18" charset="0"/>
                <a:ea typeface="Times New Roman"/>
                <a:cs typeface="Times New Roman" panose="02020603050405020304" pitchFamily="18" charset="0"/>
                <a:sym typeface="Times New Roman"/>
              </a:rPr>
              <a:t>: Flask, Django.</a:t>
            </a:r>
          </a:p>
          <a:p>
            <a:pPr lvl="0">
              <a:lnSpc>
                <a:spcPct val="140000"/>
              </a:lnSpc>
            </a:pPr>
            <a:endParaRPr lang="en-US" sz="2800" dirty="0">
              <a:latin typeface="Times New Roman" panose="02020603050405020304" pitchFamily="18" charset="0"/>
              <a:ea typeface="Public Sans"/>
              <a:cs typeface="Times New Roman" panose="02020603050405020304" pitchFamily="18" charset="0"/>
              <a:sym typeface="Public Sans"/>
            </a:endParaRPr>
          </a:p>
        </p:txBody>
      </p:sp>
      <p:sp>
        <p:nvSpPr>
          <p:cNvPr id="17" name="TextBox 17"/>
          <p:cNvSpPr txBox="1"/>
          <p:nvPr/>
        </p:nvSpPr>
        <p:spPr>
          <a:xfrm>
            <a:off x="2472414" y="6083919"/>
            <a:ext cx="4925174" cy="528991"/>
          </a:xfrm>
          <a:prstGeom prst="rect">
            <a:avLst/>
          </a:prstGeom>
        </p:spPr>
        <p:txBody>
          <a:bodyPr lIns="0" tIns="0" rIns="0" bIns="0" rtlCol="0" anchor="t">
            <a:spAutoFit/>
          </a:bodyPr>
          <a:lstStyle/>
          <a:p>
            <a:pPr algn="ctr">
              <a:lnSpc>
                <a:spcPts val="4480"/>
              </a:lnSpc>
            </a:pPr>
            <a:r>
              <a:rPr lang="en-US" sz="3200" b="1" u="sng" dirty="0">
                <a:latin typeface="Times New Roman" panose="02020603050405020304" pitchFamily="18" charset="0"/>
                <a:ea typeface="Public Sans Heavy"/>
                <a:cs typeface="Times New Roman" panose="02020603050405020304" pitchFamily="18" charset="0"/>
                <a:sym typeface="Public Sans Heavy"/>
              </a:rPr>
              <a:t>Hardware Requirements</a:t>
            </a:r>
          </a:p>
        </p:txBody>
      </p:sp>
      <p:sp>
        <p:nvSpPr>
          <p:cNvPr id="18" name="TextBox 18"/>
          <p:cNvSpPr txBox="1"/>
          <p:nvPr/>
        </p:nvSpPr>
        <p:spPr>
          <a:xfrm>
            <a:off x="10618394" y="6664673"/>
            <a:ext cx="4925174" cy="527132"/>
          </a:xfrm>
          <a:prstGeom prst="rect">
            <a:avLst/>
          </a:prstGeom>
        </p:spPr>
        <p:txBody>
          <a:bodyPr lIns="0" tIns="0" rIns="0" bIns="0" rtlCol="0" anchor="t">
            <a:spAutoFit/>
          </a:bodyPr>
          <a:lstStyle/>
          <a:p>
            <a:pPr algn="ctr">
              <a:lnSpc>
                <a:spcPts val="4480"/>
              </a:lnSpc>
            </a:pPr>
            <a:r>
              <a:rPr lang="en-US" sz="3200" b="1" u="sng" dirty="0">
                <a:latin typeface="Times New Roman" panose="02020603050405020304" pitchFamily="18" charset="0"/>
                <a:ea typeface="Public Sans Heavy"/>
                <a:cs typeface="Times New Roman" panose="02020603050405020304" pitchFamily="18" charset="0"/>
                <a:sym typeface="Public Sans Heavy"/>
              </a:rPr>
              <a:t>Software Requirements</a:t>
            </a:r>
          </a:p>
        </p:txBody>
      </p:sp>
      <p:sp>
        <p:nvSpPr>
          <p:cNvPr id="19" name="TextBox 19"/>
          <p:cNvSpPr txBox="1"/>
          <p:nvPr/>
        </p:nvSpPr>
        <p:spPr>
          <a:xfrm>
            <a:off x="732860" y="206938"/>
            <a:ext cx="16470305" cy="2518703"/>
          </a:xfrm>
          <a:prstGeom prst="rect">
            <a:avLst/>
          </a:prstGeom>
        </p:spPr>
        <p:txBody>
          <a:bodyPr wrap="square" lIns="0" tIns="0" rIns="0" bIns="0" rtlCol="0" anchor="t">
            <a:spAutoFit/>
          </a:bodyPr>
          <a:lstStyle/>
          <a:p>
            <a:pPr algn="ctr">
              <a:lnSpc>
                <a:spcPts val="10500"/>
              </a:lnSpc>
            </a:pPr>
            <a:r>
              <a:rPr lang="en-US" sz="5400" b="1" u="sng" dirty="0">
                <a:solidFill>
                  <a:schemeClr val="dk1"/>
                </a:solidFill>
                <a:latin typeface="Times New Roman" panose="02020603050405020304" pitchFamily="18" charset="0"/>
                <a:ea typeface="Algerian"/>
                <a:cs typeface="Times New Roman" panose="02020603050405020304" pitchFamily="18" charset="0"/>
                <a:sym typeface="Algerian"/>
              </a:rPr>
              <a:t>SOFTWARE AND HARDWARE REQUIREMENTS</a:t>
            </a:r>
            <a:endParaRPr lang="en-US" sz="5400" b="1" u="sng" dirty="0">
              <a:solidFill>
                <a:srgbClr val="7B5844"/>
              </a:solidFill>
              <a:latin typeface="Times New Roman" panose="02020603050405020304" pitchFamily="18" charset="0"/>
              <a:ea typeface="Algerian"/>
              <a:cs typeface="Times New Roman" panose="02020603050405020304" pitchFamily="18" charset="0"/>
              <a:sym typeface="Algerian"/>
            </a:endParaRPr>
          </a:p>
          <a:p>
            <a:pPr algn="ctr">
              <a:lnSpc>
                <a:spcPts val="10500"/>
              </a:lnSpc>
            </a:pPr>
            <a:endParaRPr lang="en-US" sz="5400" b="1" dirty="0">
              <a:solidFill>
                <a:srgbClr val="222366"/>
              </a:solidFill>
              <a:latin typeface="Times New Roman" panose="02020603050405020304" pitchFamily="18" charset="0"/>
              <a:ea typeface="Brick Sans"/>
              <a:cs typeface="Times New Roman" panose="02020603050405020304" pitchFamily="18" charset="0"/>
              <a:sym typeface="Brick Sans"/>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10140" y="2560561"/>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2598715" y="-615042"/>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4" name="Group 4"/>
          <p:cNvGrpSpPr/>
          <p:nvPr/>
        </p:nvGrpSpPr>
        <p:grpSpPr>
          <a:xfrm>
            <a:off x="17585" y="-32238"/>
            <a:ext cx="17310608" cy="9505931"/>
            <a:chOff x="0" y="0"/>
            <a:chExt cx="774713" cy="425425"/>
          </a:xfrm>
        </p:grpSpPr>
        <p:sp>
          <p:nvSpPr>
            <p:cNvPr id="5" name="Freeform 5"/>
            <p:cNvSpPr/>
            <p:nvPr/>
          </p:nvSpPr>
          <p:spPr>
            <a:xfrm>
              <a:off x="0" y="0"/>
              <a:ext cx="774713" cy="425425"/>
            </a:xfrm>
            <a:custGeom>
              <a:avLst/>
              <a:gdLst/>
              <a:ahLst/>
              <a:cxnLst/>
              <a:rect l="l" t="t" r="r" b="b"/>
              <a:pathLst>
                <a:path w="774713" h="425425">
                  <a:moveTo>
                    <a:pt x="571513" y="0"/>
                  </a:moveTo>
                  <a:cubicBezTo>
                    <a:pt x="683737" y="0"/>
                    <a:pt x="774713" y="95235"/>
                    <a:pt x="774713" y="212713"/>
                  </a:cubicBezTo>
                  <a:cubicBezTo>
                    <a:pt x="774713" y="330191"/>
                    <a:pt x="683737" y="425425"/>
                    <a:pt x="57151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sp>
        <p:sp>
          <p:nvSpPr>
            <p:cNvPr id="6" name="TextBox 6"/>
            <p:cNvSpPr txBox="1"/>
            <p:nvPr/>
          </p:nvSpPr>
          <p:spPr>
            <a:xfrm>
              <a:off x="0" y="-38100"/>
              <a:ext cx="774713" cy="463525"/>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14528187" y="5057776"/>
            <a:ext cx="5689285" cy="7379969"/>
          </a:xfrm>
          <a:custGeom>
            <a:avLst/>
            <a:gdLst/>
            <a:ahLst/>
            <a:cxnLst/>
            <a:rect l="l" t="t" r="r" b="b"/>
            <a:pathLst>
              <a:path w="5689285" h="7379969">
                <a:moveTo>
                  <a:pt x="0" y="0"/>
                </a:moveTo>
                <a:lnTo>
                  <a:pt x="5689285" y="0"/>
                </a:lnTo>
                <a:lnTo>
                  <a:pt x="5689285" y="7379968"/>
                </a:lnTo>
                <a:lnTo>
                  <a:pt x="0" y="7379968"/>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rot="-137149">
            <a:off x="798905" y="39208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9" name="Freeform 9"/>
          <p:cNvSpPr/>
          <p:nvPr/>
        </p:nvSpPr>
        <p:spPr>
          <a:xfrm rot="-1248570">
            <a:off x="558321" y="6346755"/>
            <a:ext cx="2532247" cy="3608124"/>
          </a:xfrm>
          <a:custGeom>
            <a:avLst/>
            <a:gdLst/>
            <a:ahLst/>
            <a:cxnLst/>
            <a:rect l="l" t="t" r="r" b="b"/>
            <a:pathLst>
              <a:path w="2532247" h="3608124">
                <a:moveTo>
                  <a:pt x="0" y="0"/>
                </a:moveTo>
                <a:lnTo>
                  <a:pt x="2532248" y="0"/>
                </a:lnTo>
                <a:lnTo>
                  <a:pt x="2532248" y="3608124"/>
                </a:lnTo>
                <a:lnTo>
                  <a:pt x="0" y="3608124"/>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0" name="TextBox 10"/>
          <p:cNvSpPr txBox="1"/>
          <p:nvPr/>
        </p:nvSpPr>
        <p:spPr>
          <a:xfrm>
            <a:off x="1565976" y="4265029"/>
            <a:ext cx="9500068" cy="410305"/>
          </a:xfrm>
          <a:prstGeom prst="rect">
            <a:avLst/>
          </a:prstGeom>
        </p:spPr>
        <p:txBody>
          <a:bodyPr lIns="0" tIns="0" rIns="0" bIns="0" rtlCol="0" anchor="t">
            <a:spAutoFit/>
          </a:bodyPr>
          <a:lstStyle/>
          <a:p>
            <a:pPr algn="l">
              <a:lnSpc>
                <a:spcPts val="3499"/>
              </a:lnSpc>
            </a:pPr>
            <a:endParaRPr lang="en-US" sz="2499" dirty="0">
              <a:solidFill>
                <a:srgbClr val="222366"/>
              </a:solidFill>
              <a:latin typeface="Public Sans"/>
              <a:ea typeface="Public Sans"/>
              <a:cs typeface="Public Sans"/>
              <a:sym typeface="Public Sans"/>
            </a:endParaRPr>
          </a:p>
        </p:txBody>
      </p:sp>
      <p:sp>
        <p:nvSpPr>
          <p:cNvPr id="11" name="TextBox 11"/>
          <p:cNvSpPr txBox="1"/>
          <p:nvPr/>
        </p:nvSpPr>
        <p:spPr>
          <a:xfrm>
            <a:off x="4097481" y="7443493"/>
            <a:ext cx="8052644" cy="410305"/>
          </a:xfrm>
          <a:prstGeom prst="rect">
            <a:avLst/>
          </a:prstGeom>
        </p:spPr>
        <p:txBody>
          <a:bodyPr lIns="0" tIns="0" rIns="0" bIns="0" rtlCol="0" anchor="t">
            <a:spAutoFit/>
          </a:bodyPr>
          <a:lstStyle/>
          <a:p>
            <a:pPr algn="r">
              <a:lnSpc>
                <a:spcPts val="3499"/>
              </a:lnSpc>
            </a:pPr>
            <a:endParaRPr lang="en-US" sz="2499" dirty="0">
              <a:solidFill>
                <a:srgbClr val="222366"/>
              </a:solidFill>
              <a:latin typeface="Public Sans"/>
              <a:ea typeface="Public Sans"/>
              <a:cs typeface="Public Sans"/>
              <a:sym typeface="Public Sans"/>
            </a:endParaRPr>
          </a:p>
        </p:txBody>
      </p:sp>
      <p:sp>
        <p:nvSpPr>
          <p:cNvPr id="12" name="TextBox 12"/>
          <p:cNvSpPr txBox="1"/>
          <p:nvPr/>
        </p:nvSpPr>
        <p:spPr>
          <a:xfrm>
            <a:off x="2059289" y="2410852"/>
            <a:ext cx="13227200" cy="4616648"/>
          </a:xfrm>
          <a:prstGeom prst="rect">
            <a:avLst/>
          </a:prstGeom>
        </p:spPr>
        <p:txBody>
          <a:bodyPr wrap="square" lIns="0" tIns="0" rIns="0" bIns="0" rtlCol="0" anchor="t">
            <a:spAutoFit/>
          </a:bodyPr>
          <a:lstStyle/>
          <a:p>
            <a:pPr algn="just">
              <a:lnSpc>
                <a:spcPts val="4480"/>
              </a:lnSpc>
            </a:pPr>
            <a:r>
              <a:rPr lang="en-US" sz="3200" dirty="0">
                <a:latin typeface="Times New Roman" panose="02020603050405020304" pitchFamily="18" charset="0"/>
                <a:cs typeface="Times New Roman" panose="02020603050405020304" pitchFamily="18" charset="0"/>
              </a:rPr>
              <a:t>In this project, we have explored the potential of </a:t>
            </a:r>
            <a:r>
              <a:rPr lang="en-US" sz="3200" b="1" dirty="0">
                <a:latin typeface="Times New Roman" panose="02020603050405020304" pitchFamily="18" charset="0"/>
                <a:cs typeface="Times New Roman" panose="02020603050405020304" pitchFamily="18" charset="0"/>
              </a:rPr>
              <a:t>Machine Learning (ML)</a:t>
            </a:r>
            <a:r>
              <a:rPr lang="en-US" sz="3200" dirty="0">
                <a:latin typeface="Times New Roman" panose="02020603050405020304" pitchFamily="18" charset="0"/>
                <a:cs typeface="Times New Roman" panose="02020603050405020304" pitchFamily="18" charset="0"/>
              </a:rPr>
              <a:t> and </a:t>
            </a:r>
            <a:r>
              <a:rPr lang="en-US" sz="3200" b="1" dirty="0">
                <a:latin typeface="Times New Roman" panose="02020603050405020304" pitchFamily="18" charset="0"/>
                <a:cs typeface="Times New Roman" panose="02020603050405020304" pitchFamily="18" charset="0"/>
              </a:rPr>
              <a:t>Artificial Intelligence (AI)</a:t>
            </a:r>
            <a:r>
              <a:rPr lang="en-US" sz="3200" dirty="0">
                <a:latin typeface="Times New Roman" panose="02020603050405020304" pitchFamily="18" charset="0"/>
                <a:cs typeface="Times New Roman" panose="02020603050405020304" pitchFamily="18" charset="0"/>
              </a:rPr>
              <a:t> in transforming the approach to diabetes detection, diagnosis, and management. As diabetes continues to be a major global health concern, early identification and intervention are critical in preventing complications that can lead to severe health outcomes. Through this project, we aimed to design and implement an AI-driven system capable of accurately detecting diabetes using diverse healthcare data and improving the overall clinical decision-making process.</a:t>
            </a:r>
            <a:endParaRPr lang="en-US" sz="3200" b="1" dirty="0">
              <a:solidFill>
                <a:srgbClr val="222366"/>
              </a:solidFill>
              <a:latin typeface="Times New Roman" panose="02020603050405020304" pitchFamily="18" charset="0"/>
              <a:ea typeface="Public Sans Heavy"/>
              <a:cs typeface="Times New Roman" panose="02020603050405020304" pitchFamily="18" charset="0"/>
              <a:sym typeface="Public Sans Heavy"/>
            </a:endParaRPr>
          </a:p>
        </p:txBody>
      </p:sp>
      <p:sp>
        <p:nvSpPr>
          <p:cNvPr id="13" name="TextBox 13"/>
          <p:cNvSpPr txBox="1"/>
          <p:nvPr/>
        </p:nvSpPr>
        <p:spPr>
          <a:xfrm>
            <a:off x="4097481" y="6252759"/>
            <a:ext cx="8052644" cy="527132"/>
          </a:xfrm>
          <a:prstGeom prst="rect">
            <a:avLst/>
          </a:prstGeom>
        </p:spPr>
        <p:txBody>
          <a:bodyPr lIns="0" tIns="0" rIns="0" bIns="0" rtlCol="0" anchor="t">
            <a:spAutoFit/>
          </a:bodyPr>
          <a:lstStyle/>
          <a:p>
            <a:pPr algn="r">
              <a:lnSpc>
                <a:spcPts val="4480"/>
              </a:lnSpc>
            </a:pPr>
            <a:endParaRPr lang="en-US" sz="3200" b="1" dirty="0">
              <a:solidFill>
                <a:srgbClr val="222366"/>
              </a:solidFill>
              <a:latin typeface="Public Sans Heavy"/>
              <a:ea typeface="Public Sans Heavy"/>
              <a:cs typeface="Public Sans Heavy"/>
              <a:sym typeface="Public Sans Heavy"/>
            </a:endParaRPr>
          </a:p>
        </p:txBody>
      </p:sp>
      <p:sp>
        <p:nvSpPr>
          <p:cNvPr id="14" name="TextBox 14"/>
          <p:cNvSpPr txBox="1"/>
          <p:nvPr/>
        </p:nvSpPr>
        <p:spPr>
          <a:xfrm>
            <a:off x="2354347" y="592995"/>
            <a:ext cx="12637084" cy="2164247"/>
          </a:xfrm>
          <a:prstGeom prst="rect">
            <a:avLst/>
          </a:prstGeom>
        </p:spPr>
        <p:txBody>
          <a:bodyPr lIns="0" tIns="0" rIns="0" bIns="0" rtlCol="0" anchor="t">
            <a:spAutoFit/>
          </a:bodyPr>
          <a:lstStyle/>
          <a:p>
            <a:pPr algn="ctr">
              <a:lnSpc>
                <a:spcPts val="8819"/>
              </a:lnSpc>
            </a:pPr>
            <a:r>
              <a:rPr lang="en-US" sz="5400" b="1" u="sng" dirty="0">
                <a:solidFill>
                  <a:schemeClr val="dk1"/>
                </a:solidFill>
                <a:latin typeface="Times New Roman" panose="02020603050405020304" pitchFamily="18" charset="0"/>
                <a:ea typeface="Algerian"/>
                <a:cs typeface="Times New Roman" panose="02020603050405020304" pitchFamily="18" charset="0"/>
                <a:sym typeface="Algerian"/>
              </a:rPr>
              <a:t>CONCLUSION</a:t>
            </a:r>
          </a:p>
          <a:p>
            <a:pPr algn="ctr">
              <a:lnSpc>
                <a:spcPts val="8819"/>
              </a:lnSpc>
            </a:pPr>
            <a:endParaRPr lang="en-US" sz="5400" b="1" dirty="0">
              <a:solidFill>
                <a:srgbClr val="222366"/>
              </a:solidFill>
              <a:latin typeface="Times New Roman" panose="02020603050405020304" pitchFamily="18" charset="0"/>
              <a:ea typeface="Brick Sans"/>
              <a:cs typeface="Times New Roman" panose="02020603050405020304" pitchFamily="18" charset="0"/>
              <a:sym typeface="Brick Sans"/>
            </a:endParaRPr>
          </a:p>
        </p:txBody>
      </p:sp>
    </p:spTree>
    <p:extLst>
      <p:ext uri="{BB962C8B-B14F-4D97-AF65-F5344CB8AC3E}">
        <p14:creationId xmlns:p14="http://schemas.microsoft.com/office/powerpoint/2010/main" val="28911926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52599" y="0"/>
            <a:ext cx="7238999" cy="7407771"/>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7"/>
          <p:cNvSpPr/>
          <p:nvPr/>
        </p:nvSpPr>
        <p:spPr>
          <a:xfrm>
            <a:off x="10411095" y="2452589"/>
            <a:ext cx="7876905" cy="7726439"/>
          </a:xfrm>
          <a:custGeom>
            <a:avLst/>
            <a:gdLst/>
            <a:ahLst/>
            <a:cxnLst/>
            <a:rect l="l" t="t" r="r" b="b"/>
            <a:pathLst>
              <a:path w="7876905" h="7726439">
                <a:moveTo>
                  <a:pt x="0" y="0"/>
                </a:moveTo>
                <a:lnTo>
                  <a:pt x="7876905" y="0"/>
                </a:lnTo>
                <a:lnTo>
                  <a:pt x="7876905" y="7726438"/>
                </a:lnTo>
                <a:lnTo>
                  <a:pt x="0" y="7726438"/>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4" name="Group 9"/>
          <p:cNvGrpSpPr/>
          <p:nvPr/>
        </p:nvGrpSpPr>
        <p:grpSpPr>
          <a:xfrm>
            <a:off x="751777" y="1898833"/>
            <a:ext cx="16535400" cy="8280195"/>
            <a:chOff x="0" y="0"/>
            <a:chExt cx="812800" cy="1181928"/>
          </a:xfrm>
        </p:grpSpPr>
        <p:sp>
          <p:nvSpPr>
            <p:cNvPr id="5" name="Freeform 10"/>
            <p:cNvSpPr/>
            <p:nvPr/>
          </p:nvSpPr>
          <p:spPr>
            <a:xfrm>
              <a:off x="0" y="0"/>
              <a:ext cx="812800" cy="1181927"/>
            </a:xfrm>
            <a:custGeom>
              <a:avLst/>
              <a:gdLst/>
              <a:ahLst/>
              <a:cxnLst/>
              <a:rect l="l" t="t" r="r" b="b"/>
              <a:pathLst>
                <a:path w="812800" h="1181927">
                  <a:moveTo>
                    <a:pt x="0" y="0"/>
                  </a:moveTo>
                  <a:lnTo>
                    <a:pt x="812800" y="0"/>
                  </a:lnTo>
                  <a:lnTo>
                    <a:pt x="812800" y="1181927"/>
                  </a:lnTo>
                  <a:lnTo>
                    <a:pt x="0" y="1181927"/>
                  </a:lnTo>
                  <a:close/>
                </a:path>
              </a:pathLst>
            </a:custGeom>
            <a:solidFill>
              <a:srgbClr val="E9EAF6"/>
            </a:solidFill>
          </p:spPr>
        </p:sp>
        <p:sp>
          <p:nvSpPr>
            <p:cNvPr id="6" name="TextBox 11"/>
            <p:cNvSpPr txBox="1"/>
            <p:nvPr/>
          </p:nvSpPr>
          <p:spPr>
            <a:xfrm>
              <a:off x="0" y="-38100"/>
              <a:ext cx="812800" cy="1220028"/>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12"/>
          <p:cNvSpPr/>
          <p:nvPr/>
        </p:nvSpPr>
        <p:spPr>
          <a:xfrm rot="-1257881">
            <a:off x="-993796" y="1824531"/>
            <a:ext cx="3549762" cy="3440042"/>
          </a:xfrm>
          <a:custGeom>
            <a:avLst/>
            <a:gdLst/>
            <a:ahLst/>
            <a:cxnLst/>
            <a:rect l="l" t="t" r="r" b="b"/>
            <a:pathLst>
              <a:path w="3549762" h="3440042">
                <a:moveTo>
                  <a:pt x="0" y="0"/>
                </a:moveTo>
                <a:lnTo>
                  <a:pt x="3549762" y="0"/>
                </a:lnTo>
                <a:lnTo>
                  <a:pt x="3549762" y="3440042"/>
                </a:lnTo>
                <a:lnTo>
                  <a:pt x="0" y="3440042"/>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TextBox 17"/>
          <p:cNvSpPr txBox="1"/>
          <p:nvPr/>
        </p:nvSpPr>
        <p:spPr>
          <a:xfrm>
            <a:off x="5232670" y="508621"/>
            <a:ext cx="6154118" cy="2379690"/>
          </a:xfrm>
          <a:prstGeom prst="rect">
            <a:avLst/>
          </a:prstGeom>
        </p:spPr>
        <p:txBody>
          <a:bodyPr wrap="square" lIns="0" tIns="0" rIns="0" bIns="0" rtlCol="0" anchor="t">
            <a:spAutoFit/>
          </a:bodyPr>
          <a:lstStyle/>
          <a:p>
            <a:pPr algn="r">
              <a:lnSpc>
                <a:spcPts val="9799"/>
              </a:lnSpc>
            </a:pPr>
            <a:r>
              <a:rPr lang="en-US" sz="6000" b="1" u="sng" dirty="0">
                <a:latin typeface="Times New Roman" panose="02020603050405020304" pitchFamily="18" charset="0"/>
                <a:ea typeface="Times New Roman"/>
                <a:cs typeface="Times New Roman" panose="02020603050405020304" pitchFamily="18" charset="0"/>
                <a:sym typeface="Times New Roman"/>
              </a:rPr>
              <a:t>REFERENCES</a:t>
            </a:r>
            <a:endParaRPr lang="en-US" sz="6000" b="1" u="sng" dirty="0">
              <a:latin typeface="Times New Roman" panose="02020603050405020304" pitchFamily="18" charset="0"/>
              <a:cs typeface="Times New Roman" panose="02020603050405020304" pitchFamily="18" charset="0"/>
            </a:endParaRPr>
          </a:p>
          <a:p>
            <a:pPr algn="r">
              <a:lnSpc>
                <a:spcPts val="9799"/>
              </a:lnSpc>
            </a:pPr>
            <a:endParaRPr lang="en-US" sz="6000" b="1" u="sng" dirty="0">
              <a:solidFill>
                <a:srgbClr val="222366"/>
              </a:solidFill>
              <a:latin typeface="Times New Roman" panose="02020603050405020304" pitchFamily="18" charset="0"/>
              <a:ea typeface="Brick Sans"/>
              <a:cs typeface="Times New Roman" panose="02020603050405020304" pitchFamily="18" charset="0"/>
              <a:sym typeface="Brick Sans"/>
            </a:endParaRPr>
          </a:p>
        </p:txBody>
      </p:sp>
      <p:sp>
        <p:nvSpPr>
          <p:cNvPr id="9" name="Rectangle 8"/>
          <p:cNvSpPr/>
          <p:nvPr/>
        </p:nvSpPr>
        <p:spPr>
          <a:xfrm>
            <a:off x="2209800" y="2722550"/>
            <a:ext cx="13216289" cy="6001643"/>
          </a:xfrm>
          <a:prstGeom prst="rect">
            <a:avLst/>
          </a:prstGeom>
        </p:spPr>
        <p:txBody>
          <a:bodyPr wrap="square">
            <a:spAutoFit/>
          </a:bodyPr>
          <a:lstStyle/>
          <a:p>
            <a:pPr algn="just"/>
            <a:r>
              <a:rPr lang="en-IN" sz="3200" b="1" dirty="0">
                <a:latin typeface="Times New Roman" panose="02020603050405020304" pitchFamily="18" charset="0"/>
                <a:cs typeface="Times New Roman" panose="02020603050405020304" pitchFamily="18" charset="0"/>
              </a:rPr>
              <a:t>[1] </a:t>
            </a:r>
            <a:r>
              <a:rPr lang="en-IN" sz="3200" dirty="0">
                <a:latin typeface="Times New Roman" panose="02020603050405020304" pitchFamily="18" charset="0"/>
                <a:cs typeface="Times New Roman" panose="02020603050405020304" pitchFamily="18" charset="0"/>
              </a:rPr>
              <a:t>Gauri D. </a:t>
            </a:r>
            <a:r>
              <a:rPr lang="en-IN" sz="3200" dirty="0" err="1">
                <a:latin typeface="Times New Roman" panose="02020603050405020304" pitchFamily="18" charset="0"/>
                <a:cs typeface="Times New Roman" panose="02020603050405020304" pitchFamily="18" charset="0"/>
              </a:rPr>
              <a:t>Kalyankar</a:t>
            </a:r>
            <a:r>
              <a:rPr lang="en-IN" sz="3200" dirty="0">
                <a:latin typeface="Times New Roman" panose="02020603050405020304" pitchFamily="18" charset="0"/>
                <a:cs typeface="Times New Roman" panose="02020603050405020304" pitchFamily="18" charset="0"/>
              </a:rPr>
              <a:t>, </a:t>
            </a:r>
            <a:r>
              <a:rPr lang="en-IN" sz="3200" dirty="0" err="1">
                <a:latin typeface="Times New Roman" panose="02020603050405020304" pitchFamily="18" charset="0"/>
                <a:cs typeface="Times New Roman" panose="02020603050405020304" pitchFamily="18" charset="0"/>
              </a:rPr>
              <a:t>Shivananda</a:t>
            </a:r>
            <a:r>
              <a:rPr lang="en-IN" sz="3200" dirty="0">
                <a:latin typeface="Times New Roman" panose="02020603050405020304" pitchFamily="18" charset="0"/>
                <a:cs typeface="Times New Roman" panose="02020603050405020304" pitchFamily="18" charset="0"/>
              </a:rPr>
              <a:t> R. </a:t>
            </a:r>
            <a:r>
              <a:rPr lang="en-IN" sz="3200" dirty="0" err="1">
                <a:latin typeface="Times New Roman" panose="02020603050405020304" pitchFamily="18" charset="0"/>
                <a:cs typeface="Times New Roman" panose="02020603050405020304" pitchFamily="18" charset="0"/>
              </a:rPr>
              <a:t>Poojara</a:t>
            </a:r>
            <a:r>
              <a:rPr lang="en-IN" sz="3200" dirty="0">
                <a:latin typeface="Times New Roman" panose="02020603050405020304" pitchFamily="18" charset="0"/>
                <a:cs typeface="Times New Roman" panose="02020603050405020304" pitchFamily="18" charset="0"/>
              </a:rPr>
              <a:t> and Nagaraj V. </a:t>
            </a:r>
            <a:r>
              <a:rPr lang="en-IN" sz="3200" dirty="0" err="1">
                <a:latin typeface="Times New Roman" panose="02020603050405020304" pitchFamily="18" charset="0"/>
                <a:cs typeface="Times New Roman" panose="02020603050405020304" pitchFamily="18" charset="0"/>
              </a:rPr>
              <a:t>Dharwadkar</a:t>
            </a:r>
            <a:r>
              <a:rPr lang="en-IN" sz="3200" dirty="0">
                <a:latin typeface="Times New Roman" panose="02020603050405020304" pitchFamily="18" charset="0"/>
                <a:cs typeface="Times New Roman" panose="02020603050405020304" pitchFamily="18" charset="0"/>
              </a:rPr>
              <a:t>,” Predictive Analysis of Diabetic Patient Data Using Machine Learning and Hadoop”, International Conference On I-SMAC,978-1-5090-3243-3,2017. </a:t>
            </a:r>
          </a:p>
          <a:p>
            <a:pPr algn="just"/>
            <a:r>
              <a:rPr lang="en-IN" sz="3200" b="1" dirty="0">
                <a:latin typeface="Times New Roman" panose="02020603050405020304" pitchFamily="18" charset="0"/>
                <a:cs typeface="Times New Roman" panose="02020603050405020304" pitchFamily="18" charset="0"/>
              </a:rPr>
              <a:t>[2] </a:t>
            </a:r>
            <a:r>
              <a:rPr lang="en-IN" sz="3200" dirty="0" err="1">
                <a:latin typeface="Times New Roman" panose="02020603050405020304" pitchFamily="18" charset="0"/>
                <a:cs typeface="Times New Roman" panose="02020603050405020304" pitchFamily="18" charset="0"/>
              </a:rPr>
              <a:t>Ayush</a:t>
            </a:r>
            <a:r>
              <a:rPr lang="en-IN" sz="3200" dirty="0">
                <a:latin typeface="Times New Roman" panose="02020603050405020304" pitchFamily="18" charset="0"/>
                <a:cs typeface="Times New Roman" panose="02020603050405020304" pitchFamily="18" charset="0"/>
              </a:rPr>
              <a:t> </a:t>
            </a:r>
            <a:r>
              <a:rPr lang="en-IN" sz="3200" dirty="0" err="1">
                <a:latin typeface="Times New Roman" panose="02020603050405020304" pitchFamily="18" charset="0"/>
                <a:cs typeface="Times New Roman" panose="02020603050405020304" pitchFamily="18" charset="0"/>
              </a:rPr>
              <a:t>Anand</a:t>
            </a:r>
            <a:r>
              <a:rPr lang="en-IN" sz="3200" dirty="0">
                <a:latin typeface="Times New Roman" panose="02020603050405020304" pitchFamily="18" charset="0"/>
                <a:cs typeface="Times New Roman" panose="02020603050405020304" pitchFamily="18" charset="0"/>
              </a:rPr>
              <a:t> and </a:t>
            </a:r>
            <a:r>
              <a:rPr lang="en-IN" sz="3200" dirty="0" err="1">
                <a:latin typeface="Times New Roman" panose="02020603050405020304" pitchFamily="18" charset="0"/>
                <a:cs typeface="Times New Roman" panose="02020603050405020304" pitchFamily="18" charset="0"/>
              </a:rPr>
              <a:t>Divya</a:t>
            </a:r>
            <a:r>
              <a:rPr lang="en-IN" sz="3200" dirty="0">
                <a:latin typeface="Times New Roman" panose="02020603050405020304" pitchFamily="18" charset="0"/>
                <a:cs typeface="Times New Roman" panose="02020603050405020304" pitchFamily="18" charset="0"/>
              </a:rPr>
              <a:t> Shakti,” Prediction of Diabetes Based on Personal Lifestyle Indicators”, 1st International Conference on Next Generation Computing Technologies, 978-1-4673-6809-4, September 2015. </a:t>
            </a:r>
          </a:p>
          <a:p>
            <a:pPr algn="just"/>
            <a:r>
              <a:rPr lang="en-IN" sz="3200" b="1" dirty="0">
                <a:latin typeface="Times New Roman" panose="02020603050405020304" pitchFamily="18" charset="0"/>
                <a:cs typeface="Times New Roman" panose="02020603050405020304" pitchFamily="18" charset="0"/>
              </a:rPr>
              <a:t>[3] </a:t>
            </a:r>
            <a:r>
              <a:rPr lang="en-IN" sz="3200" dirty="0">
                <a:latin typeface="Times New Roman" panose="02020603050405020304" pitchFamily="18" charset="0"/>
                <a:cs typeface="Times New Roman" panose="02020603050405020304" pitchFamily="18" charset="0"/>
              </a:rPr>
              <a:t>B. </a:t>
            </a:r>
            <a:r>
              <a:rPr lang="en-IN" sz="3200" dirty="0" err="1">
                <a:latin typeface="Times New Roman" panose="02020603050405020304" pitchFamily="18" charset="0"/>
                <a:cs typeface="Times New Roman" panose="02020603050405020304" pitchFamily="18" charset="0"/>
              </a:rPr>
              <a:t>Nithya</a:t>
            </a:r>
            <a:r>
              <a:rPr lang="en-IN" sz="3200" dirty="0">
                <a:latin typeface="Times New Roman" panose="02020603050405020304" pitchFamily="18" charset="0"/>
                <a:cs typeface="Times New Roman" panose="02020603050405020304" pitchFamily="18" charset="0"/>
              </a:rPr>
              <a:t> and </a:t>
            </a:r>
            <a:r>
              <a:rPr lang="en-IN" sz="3200" dirty="0" err="1">
                <a:latin typeface="Times New Roman" panose="02020603050405020304" pitchFamily="18" charset="0"/>
                <a:cs typeface="Times New Roman" panose="02020603050405020304" pitchFamily="18" charset="0"/>
              </a:rPr>
              <a:t>Dr.</a:t>
            </a:r>
            <a:r>
              <a:rPr lang="en-IN" sz="3200" dirty="0">
                <a:latin typeface="Times New Roman" panose="02020603050405020304" pitchFamily="18" charset="0"/>
                <a:cs typeface="Times New Roman" panose="02020603050405020304" pitchFamily="18" charset="0"/>
              </a:rPr>
              <a:t> V. </a:t>
            </a:r>
            <a:r>
              <a:rPr lang="en-IN" sz="3200" dirty="0" err="1">
                <a:latin typeface="Times New Roman" panose="02020603050405020304" pitchFamily="18" charset="0"/>
                <a:cs typeface="Times New Roman" panose="02020603050405020304" pitchFamily="18" charset="0"/>
              </a:rPr>
              <a:t>Ilango</a:t>
            </a:r>
            <a:r>
              <a:rPr lang="en-IN" sz="3200" dirty="0">
                <a:latin typeface="Times New Roman" panose="02020603050405020304" pitchFamily="18" charset="0"/>
                <a:cs typeface="Times New Roman" panose="02020603050405020304" pitchFamily="18" charset="0"/>
              </a:rPr>
              <a:t>,” Predictive Analytics in Health Care Using Machine Learning Tools and Techniques”, International Conference on Intelligent Computing and Control Systems, 978-1-5386-2745-7,2017. </a:t>
            </a:r>
          </a:p>
          <a:p>
            <a:pPr algn="just"/>
            <a:r>
              <a:rPr lang="en-IN" sz="3200" b="1" dirty="0">
                <a:latin typeface="Times New Roman" panose="02020603050405020304" pitchFamily="18" charset="0"/>
                <a:cs typeface="Times New Roman" panose="02020603050405020304" pitchFamily="18" charset="0"/>
              </a:rPr>
              <a:t>[4] </a:t>
            </a:r>
            <a:r>
              <a:rPr lang="en-IN" sz="3200" dirty="0">
                <a:latin typeface="Times New Roman" panose="02020603050405020304" pitchFamily="18" charset="0"/>
                <a:cs typeface="Times New Roman" panose="02020603050405020304" pitchFamily="18" charset="0"/>
              </a:rPr>
              <a:t>Dr </a:t>
            </a:r>
            <a:r>
              <a:rPr lang="en-IN" sz="3200" dirty="0" err="1">
                <a:latin typeface="Times New Roman" panose="02020603050405020304" pitchFamily="18" charset="0"/>
                <a:cs typeface="Times New Roman" panose="02020603050405020304" pitchFamily="18" charset="0"/>
              </a:rPr>
              <a:t>Saravana</a:t>
            </a:r>
            <a:r>
              <a:rPr lang="en-IN" sz="3200" dirty="0">
                <a:latin typeface="Times New Roman" panose="02020603050405020304" pitchFamily="18" charset="0"/>
                <a:cs typeface="Times New Roman" panose="02020603050405020304" pitchFamily="18" charset="0"/>
              </a:rPr>
              <a:t> </a:t>
            </a:r>
            <a:r>
              <a:rPr lang="en-IN" sz="3200" dirty="0" err="1">
                <a:latin typeface="Times New Roman" panose="02020603050405020304" pitchFamily="18" charset="0"/>
                <a:cs typeface="Times New Roman" panose="02020603050405020304" pitchFamily="18" charset="0"/>
              </a:rPr>
              <a:t>kumar</a:t>
            </a:r>
            <a:r>
              <a:rPr lang="en-IN" sz="3200" dirty="0">
                <a:latin typeface="Times New Roman" panose="02020603050405020304" pitchFamily="18" charset="0"/>
                <a:cs typeface="Times New Roman" panose="02020603050405020304" pitchFamily="18" charset="0"/>
              </a:rPr>
              <a:t> N M, </a:t>
            </a:r>
            <a:r>
              <a:rPr lang="en-IN" sz="3200" dirty="0" err="1">
                <a:latin typeface="Times New Roman" panose="02020603050405020304" pitchFamily="18" charset="0"/>
                <a:cs typeface="Times New Roman" panose="02020603050405020304" pitchFamily="18" charset="0"/>
              </a:rPr>
              <a:t>Eswari</a:t>
            </a:r>
            <a:r>
              <a:rPr lang="en-IN" sz="3200" dirty="0">
                <a:latin typeface="Times New Roman" panose="02020603050405020304" pitchFamily="18" charset="0"/>
                <a:cs typeface="Times New Roman" panose="02020603050405020304" pitchFamily="18" charset="0"/>
              </a:rPr>
              <a:t> T, </a:t>
            </a:r>
            <a:r>
              <a:rPr lang="en-IN" sz="3200" dirty="0" err="1">
                <a:latin typeface="Times New Roman" panose="02020603050405020304" pitchFamily="18" charset="0"/>
                <a:cs typeface="Times New Roman" panose="02020603050405020304" pitchFamily="18" charset="0"/>
              </a:rPr>
              <a:t>Sampath</a:t>
            </a:r>
            <a:r>
              <a:rPr lang="en-IN" sz="3200" dirty="0">
                <a:latin typeface="Times New Roman" panose="02020603050405020304" pitchFamily="18" charset="0"/>
                <a:cs typeface="Times New Roman" panose="02020603050405020304" pitchFamily="18" charset="0"/>
              </a:rPr>
              <a:t> P and </a:t>
            </a:r>
            <a:r>
              <a:rPr lang="en-IN" sz="3200" dirty="0" err="1">
                <a:latin typeface="Times New Roman" panose="02020603050405020304" pitchFamily="18" charset="0"/>
                <a:cs typeface="Times New Roman" panose="02020603050405020304" pitchFamily="18" charset="0"/>
              </a:rPr>
              <a:t>Lavanya</a:t>
            </a:r>
            <a:r>
              <a:rPr lang="en-IN" sz="3200" dirty="0">
                <a:latin typeface="Times New Roman" panose="02020603050405020304" pitchFamily="18" charset="0"/>
                <a:cs typeface="Times New Roman" panose="02020603050405020304" pitchFamily="18" charset="0"/>
              </a:rPr>
              <a:t> S,” Predictive Methodology for Diabetic Data Analysis in Big Data”, 2nd International Symposium on Big Data and Cloud Computing,2015.</a:t>
            </a:r>
          </a:p>
        </p:txBody>
      </p:sp>
    </p:spTree>
    <p:extLst>
      <p:ext uri="{BB962C8B-B14F-4D97-AF65-F5344CB8AC3E}">
        <p14:creationId xmlns:p14="http://schemas.microsoft.com/office/powerpoint/2010/main" val="31022944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422894" y="1049600"/>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rot="-1793077">
            <a:off x="1979827" y="-203162"/>
            <a:ext cx="1769402" cy="2463725"/>
          </a:xfrm>
          <a:custGeom>
            <a:avLst/>
            <a:gdLst/>
            <a:ahLst/>
            <a:cxnLst/>
            <a:rect l="l" t="t" r="r" b="b"/>
            <a:pathLst>
              <a:path w="1769402" h="2463725">
                <a:moveTo>
                  <a:pt x="0" y="0"/>
                </a:moveTo>
                <a:lnTo>
                  <a:pt x="1769402" y="0"/>
                </a:lnTo>
                <a:lnTo>
                  <a:pt x="1769402" y="2463724"/>
                </a:lnTo>
                <a:lnTo>
                  <a:pt x="0" y="2463724"/>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a:off x="11942242" y="249336"/>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 name="Freeform 5"/>
          <p:cNvSpPr/>
          <p:nvPr/>
        </p:nvSpPr>
        <p:spPr>
          <a:xfrm rot="855077">
            <a:off x="14265134" y="-162966"/>
            <a:ext cx="2066999" cy="2383332"/>
          </a:xfrm>
          <a:custGeom>
            <a:avLst/>
            <a:gdLst/>
            <a:ahLst/>
            <a:cxnLst/>
            <a:rect l="l" t="t" r="r" b="b"/>
            <a:pathLst>
              <a:path w="2066999" h="2383332">
                <a:moveTo>
                  <a:pt x="0" y="0"/>
                </a:moveTo>
                <a:lnTo>
                  <a:pt x="2066999" y="0"/>
                </a:lnTo>
                <a:lnTo>
                  <a:pt x="2066999" y="2383332"/>
                </a:lnTo>
                <a:lnTo>
                  <a:pt x="0" y="2383332"/>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grpSp>
        <p:nvGrpSpPr>
          <p:cNvPr id="6" name="Group 6"/>
          <p:cNvGrpSpPr/>
          <p:nvPr/>
        </p:nvGrpSpPr>
        <p:grpSpPr>
          <a:xfrm>
            <a:off x="3206361" y="277898"/>
            <a:ext cx="12092272" cy="4190887"/>
            <a:chOff x="0" y="0"/>
            <a:chExt cx="1100680" cy="381469"/>
          </a:xfrm>
        </p:grpSpPr>
        <p:sp>
          <p:nvSpPr>
            <p:cNvPr id="7" name="Freeform 7"/>
            <p:cNvSpPr/>
            <p:nvPr/>
          </p:nvSpPr>
          <p:spPr>
            <a:xfrm>
              <a:off x="0" y="0"/>
              <a:ext cx="1100680" cy="381469"/>
            </a:xfrm>
            <a:custGeom>
              <a:avLst/>
              <a:gdLst/>
              <a:ahLst/>
              <a:cxnLst/>
              <a:rect l="l" t="t" r="r" b="b"/>
              <a:pathLst>
                <a:path w="1100680" h="381469">
                  <a:moveTo>
                    <a:pt x="897480" y="0"/>
                  </a:moveTo>
                  <a:cubicBezTo>
                    <a:pt x="1009705" y="0"/>
                    <a:pt x="1100680" y="85395"/>
                    <a:pt x="1100680" y="190734"/>
                  </a:cubicBezTo>
                  <a:cubicBezTo>
                    <a:pt x="1100680" y="296074"/>
                    <a:pt x="1009705" y="381469"/>
                    <a:pt x="897480" y="381469"/>
                  </a:cubicBezTo>
                  <a:lnTo>
                    <a:pt x="203200" y="381469"/>
                  </a:lnTo>
                  <a:cubicBezTo>
                    <a:pt x="90976" y="381469"/>
                    <a:pt x="0" y="296074"/>
                    <a:pt x="0" y="190734"/>
                  </a:cubicBezTo>
                  <a:cubicBezTo>
                    <a:pt x="0" y="85395"/>
                    <a:pt x="90976" y="0"/>
                    <a:pt x="203200" y="0"/>
                  </a:cubicBezTo>
                  <a:close/>
                </a:path>
              </a:pathLst>
            </a:custGeom>
            <a:solidFill>
              <a:srgbClr val="E9EAF6"/>
            </a:solidFill>
          </p:spPr>
        </p:sp>
        <p:sp>
          <p:nvSpPr>
            <p:cNvPr id="8" name="TextBox 8"/>
            <p:cNvSpPr txBox="1"/>
            <p:nvPr/>
          </p:nvSpPr>
          <p:spPr>
            <a:xfrm>
              <a:off x="0" y="-38100"/>
              <a:ext cx="1100680" cy="419569"/>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432945" y="5542054"/>
            <a:ext cx="5018594" cy="5403600"/>
          </a:xfrm>
          <a:custGeom>
            <a:avLst/>
            <a:gdLst/>
            <a:ahLst/>
            <a:cxnLst/>
            <a:rect l="l" t="t" r="r" b="b"/>
            <a:pathLst>
              <a:path w="5018594" h="5403600">
                <a:moveTo>
                  <a:pt x="0" y="0"/>
                </a:moveTo>
                <a:lnTo>
                  <a:pt x="5018594" y="0"/>
                </a:lnTo>
                <a:lnTo>
                  <a:pt x="5018594" y="5403600"/>
                </a:lnTo>
                <a:lnTo>
                  <a:pt x="0" y="5403600"/>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0" name="Freeform 10"/>
          <p:cNvSpPr/>
          <p:nvPr/>
        </p:nvSpPr>
        <p:spPr>
          <a:xfrm>
            <a:off x="2639554" y="5542054"/>
            <a:ext cx="3814457" cy="5060639"/>
          </a:xfrm>
          <a:custGeom>
            <a:avLst/>
            <a:gdLst/>
            <a:ahLst/>
            <a:cxnLst/>
            <a:rect l="l" t="t" r="r" b="b"/>
            <a:pathLst>
              <a:path w="3814457" h="5060639">
                <a:moveTo>
                  <a:pt x="0" y="0"/>
                </a:moveTo>
                <a:lnTo>
                  <a:pt x="3814457" y="0"/>
                </a:lnTo>
                <a:lnTo>
                  <a:pt x="3814457" y="5060640"/>
                </a:lnTo>
                <a:lnTo>
                  <a:pt x="0" y="5060640"/>
                </a:lnTo>
                <a:lnTo>
                  <a:pt x="0" y="0"/>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11" name="Freeform 11"/>
          <p:cNvSpPr/>
          <p:nvPr/>
        </p:nvSpPr>
        <p:spPr>
          <a:xfrm>
            <a:off x="5644433" y="5542054"/>
            <a:ext cx="4031635" cy="5229715"/>
          </a:xfrm>
          <a:custGeom>
            <a:avLst/>
            <a:gdLst/>
            <a:ahLst/>
            <a:cxnLst/>
            <a:rect l="l" t="t" r="r" b="b"/>
            <a:pathLst>
              <a:path w="4031635" h="5229715">
                <a:moveTo>
                  <a:pt x="0" y="0"/>
                </a:moveTo>
                <a:lnTo>
                  <a:pt x="4031635" y="0"/>
                </a:lnTo>
                <a:lnTo>
                  <a:pt x="4031635" y="5229715"/>
                </a:lnTo>
                <a:lnTo>
                  <a:pt x="0" y="5229715"/>
                </a:lnTo>
                <a:lnTo>
                  <a:pt x="0" y="0"/>
                </a:lnTo>
                <a:close/>
              </a:path>
            </a:pathLst>
          </a:custGeom>
          <a:blipFill>
            <a:blip r:embed="rId12">
              <a:extLst>
                <a:ext uri="{96DAC541-7B7A-43D3-8B79-37D633B846F1}">
                  <asvg:svgBlip xmlns="" xmlns:asvg="http://schemas.microsoft.com/office/drawing/2016/SVG/main" r:embed="rId13"/>
                </a:ext>
              </a:extLst>
            </a:blip>
            <a:stretch>
              <a:fillRect/>
            </a:stretch>
          </a:blipFill>
        </p:spPr>
      </p:sp>
      <p:sp>
        <p:nvSpPr>
          <p:cNvPr id="12" name="Freeform 12"/>
          <p:cNvSpPr/>
          <p:nvPr/>
        </p:nvSpPr>
        <p:spPr>
          <a:xfrm rot="-1257881">
            <a:off x="-400893" y="2974914"/>
            <a:ext cx="3549762" cy="3440042"/>
          </a:xfrm>
          <a:custGeom>
            <a:avLst/>
            <a:gdLst/>
            <a:ahLst/>
            <a:cxnLst/>
            <a:rect l="l" t="t" r="r" b="b"/>
            <a:pathLst>
              <a:path w="3549762" h="3440042">
                <a:moveTo>
                  <a:pt x="0" y="0"/>
                </a:moveTo>
                <a:lnTo>
                  <a:pt x="3549762" y="0"/>
                </a:lnTo>
                <a:lnTo>
                  <a:pt x="3549762" y="3440042"/>
                </a:lnTo>
                <a:lnTo>
                  <a:pt x="0" y="3440042"/>
                </a:lnTo>
                <a:lnTo>
                  <a:pt x="0" y="0"/>
                </a:lnTo>
                <a:close/>
              </a:path>
            </a:pathLst>
          </a:custGeom>
          <a:blipFill>
            <a:blip r:embed="rId14">
              <a:extLst>
                <a:ext uri="{96DAC541-7B7A-43D3-8B79-37D633B846F1}">
                  <asvg:svgBlip xmlns="" xmlns:asvg="http://schemas.microsoft.com/office/drawing/2016/SVG/main" r:embed="rId15"/>
                </a:ext>
              </a:extLst>
            </a:blip>
            <a:stretch>
              <a:fillRect/>
            </a:stretch>
          </a:blipFill>
        </p:spPr>
      </p:sp>
      <p:sp>
        <p:nvSpPr>
          <p:cNvPr id="13" name="Freeform 13"/>
          <p:cNvSpPr/>
          <p:nvPr/>
        </p:nvSpPr>
        <p:spPr>
          <a:xfrm rot="-1248570">
            <a:off x="15858283" y="2774300"/>
            <a:ext cx="2885297" cy="4111175"/>
          </a:xfrm>
          <a:custGeom>
            <a:avLst/>
            <a:gdLst/>
            <a:ahLst/>
            <a:cxnLst/>
            <a:rect l="l" t="t" r="r" b="b"/>
            <a:pathLst>
              <a:path w="2885297" h="4111175">
                <a:moveTo>
                  <a:pt x="0" y="0"/>
                </a:moveTo>
                <a:lnTo>
                  <a:pt x="2885297" y="0"/>
                </a:lnTo>
                <a:lnTo>
                  <a:pt x="2885297" y="4111175"/>
                </a:lnTo>
                <a:lnTo>
                  <a:pt x="0" y="4111175"/>
                </a:lnTo>
                <a:lnTo>
                  <a:pt x="0" y="0"/>
                </a:lnTo>
                <a:close/>
              </a:path>
            </a:pathLst>
          </a:custGeom>
          <a:blipFill>
            <a:blip r:embed="rId16">
              <a:extLst>
                <a:ext uri="{96DAC541-7B7A-43D3-8B79-37D633B846F1}">
                  <asvg:svgBlip xmlns="" xmlns:asvg="http://schemas.microsoft.com/office/drawing/2016/SVG/main" r:embed="rId17"/>
                </a:ext>
              </a:extLst>
            </a:blip>
            <a:stretch>
              <a:fillRect/>
            </a:stretch>
          </a:blipFill>
        </p:spPr>
      </p:sp>
      <p:sp>
        <p:nvSpPr>
          <p:cNvPr id="14" name="Freeform 14"/>
          <p:cNvSpPr/>
          <p:nvPr/>
        </p:nvSpPr>
        <p:spPr>
          <a:xfrm>
            <a:off x="12635147" y="5372979"/>
            <a:ext cx="3123355" cy="5205592"/>
          </a:xfrm>
          <a:custGeom>
            <a:avLst/>
            <a:gdLst/>
            <a:ahLst/>
            <a:cxnLst/>
            <a:rect l="l" t="t" r="r" b="b"/>
            <a:pathLst>
              <a:path w="3123355" h="5205592">
                <a:moveTo>
                  <a:pt x="0" y="0"/>
                </a:moveTo>
                <a:lnTo>
                  <a:pt x="3123356" y="0"/>
                </a:lnTo>
                <a:lnTo>
                  <a:pt x="3123356" y="5205592"/>
                </a:lnTo>
                <a:lnTo>
                  <a:pt x="0" y="5205592"/>
                </a:lnTo>
                <a:lnTo>
                  <a:pt x="0" y="0"/>
                </a:lnTo>
                <a:close/>
              </a:path>
            </a:pathLst>
          </a:custGeom>
          <a:blipFill>
            <a:blip r:embed="rId18">
              <a:extLst>
                <a:ext uri="{96DAC541-7B7A-43D3-8B79-37D633B846F1}">
                  <asvg:svgBlip xmlns="" xmlns:asvg="http://schemas.microsoft.com/office/drawing/2016/SVG/main" r:embed="rId19"/>
                </a:ext>
              </a:extLst>
            </a:blip>
            <a:stretch>
              <a:fillRect/>
            </a:stretch>
          </a:blipFill>
        </p:spPr>
      </p:sp>
      <p:sp>
        <p:nvSpPr>
          <p:cNvPr id="15" name="Freeform 15"/>
          <p:cNvSpPr/>
          <p:nvPr/>
        </p:nvSpPr>
        <p:spPr>
          <a:xfrm rot="-5500207">
            <a:off x="3544370" y="3949723"/>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20">
              <a:extLst>
                <a:ext uri="{96DAC541-7B7A-43D3-8B79-37D633B846F1}">
                  <asvg:svgBlip xmlns="" xmlns:asvg="http://schemas.microsoft.com/office/drawing/2016/SVG/main" r:embed="rId21"/>
                </a:ext>
              </a:extLst>
            </a:blip>
            <a:stretch>
              <a:fillRect/>
            </a:stretch>
          </a:blipFill>
        </p:spPr>
      </p:sp>
      <p:sp>
        <p:nvSpPr>
          <p:cNvPr id="16" name="Freeform 16"/>
          <p:cNvSpPr/>
          <p:nvPr/>
        </p:nvSpPr>
        <p:spPr>
          <a:xfrm rot="-5500207" flipH="1">
            <a:off x="12877809" y="3865185"/>
            <a:ext cx="1402006" cy="1402006"/>
          </a:xfrm>
          <a:custGeom>
            <a:avLst/>
            <a:gdLst/>
            <a:ahLst/>
            <a:cxnLst/>
            <a:rect l="l" t="t" r="r" b="b"/>
            <a:pathLst>
              <a:path w="1402006" h="1402006">
                <a:moveTo>
                  <a:pt x="1402007" y="0"/>
                </a:moveTo>
                <a:lnTo>
                  <a:pt x="0" y="0"/>
                </a:lnTo>
                <a:lnTo>
                  <a:pt x="0" y="1402006"/>
                </a:lnTo>
                <a:lnTo>
                  <a:pt x="1402007" y="1402006"/>
                </a:lnTo>
                <a:lnTo>
                  <a:pt x="1402007" y="0"/>
                </a:lnTo>
                <a:close/>
              </a:path>
            </a:pathLst>
          </a:custGeom>
          <a:blipFill>
            <a:blip r:embed="rId20">
              <a:extLst>
                <a:ext uri="{96DAC541-7B7A-43D3-8B79-37D633B846F1}">
                  <asvg:svgBlip xmlns="" xmlns:asvg="http://schemas.microsoft.com/office/drawing/2016/SVG/main" r:embed="rId21"/>
                </a:ext>
              </a:extLst>
            </a:blip>
            <a:stretch>
              <a:fillRect/>
            </a:stretch>
          </a:blipFill>
        </p:spPr>
      </p:sp>
      <p:sp>
        <p:nvSpPr>
          <p:cNvPr id="17" name="TextBox 17"/>
          <p:cNvSpPr txBox="1"/>
          <p:nvPr/>
        </p:nvSpPr>
        <p:spPr>
          <a:xfrm>
            <a:off x="3968529" y="2062526"/>
            <a:ext cx="10311897" cy="1288238"/>
          </a:xfrm>
          <a:prstGeom prst="rect">
            <a:avLst/>
          </a:prstGeom>
        </p:spPr>
        <p:txBody>
          <a:bodyPr lIns="0" tIns="0" rIns="0" bIns="0" rtlCol="0" anchor="t">
            <a:spAutoFit/>
          </a:bodyPr>
          <a:lstStyle/>
          <a:p>
            <a:pPr algn="ctr">
              <a:lnSpc>
                <a:spcPts val="9799"/>
              </a:lnSpc>
            </a:pPr>
            <a:r>
              <a:rPr lang="en-US" sz="11500" b="1" dirty="0">
                <a:solidFill>
                  <a:srgbClr val="222366"/>
                </a:solidFill>
                <a:latin typeface="Times New Roman" panose="02020603050405020304" pitchFamily="18" charset="0"/>
                <a:ea typeface="Brick Sans"/>
                <a:cs typeface="Times New Roman" panose="02020603050405020304" pitchFamily="18" charset="0"/>
                <a:sym typeface="Brick Sans"/>
              </a:rPr>
              <a:t>Thank you</a:t>
            </a:r>
          </a:p>
        </p:txBody>
      </p:sp>
    </p:spTree>
  </p:cSld>
  <p:clrMapOvr>
    <a:masterClrMapping/>
  </p:clrMapOvr>
  <p:transition spd="slow">
    <p:randomBar dir="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Presentation1" id="{AB839C64-7992-42D9-A70A-E78BA3BAF493}" vid="{76AF85A9-D5B1-4B32-9BF3-8D73CD614B6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490</TotalTime>
  <Words>1207</Words>
  <Application>Microsoft Office PowerPoint</Application>
  <PresentationFormat>Custom</PresentationFormat>
  <Paragraphs>145</Paragraphs>
  <Slides>14</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Arial</vt:lpstr>
      <vt:lpstr>Times New Roman</vt:lpstr>
      <vt:lpstr>Noto Sans Symbols</vt:lpstr>
      <vt:lpstr>Calibri</vt:lpstr>
      <vt:lpstr>Public Sans Heavy</vt:lpstr>
      <vt:lpstr>Public Sans Bold</vt:lpstr>
      <vt:lpstr>Algerian</vt:lpstr>
      <vt:lpstr>Nirmala UI</vt:lpstr>
      <vt:lpstr>Alice</vt:lpstr>
      <vt:lpstr>Brick Sans</vt:lpstr>
      <vt:lpstr>Public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ppt</dc:title>
  <dc:creator>Jeevitha Gowda</dc:creator>
  <cp:lastModifiedBy>HP</cp:lastModifiedBy>
  <cp:revision>64</cp:revision>
  <dcterms:created xsi:type="dcterms:W3CDTF">2006-08-16T00:00:00Z</dcterms:created>
  <dcterms:modified xsi:type="dcterms:W3CDTF">2024-12-04T16:28:05Z</dcterms:modified>
  <dc:identifier>DAGYJm4bqnA</dc:identifier>
</cp:coreProperties>
</file>